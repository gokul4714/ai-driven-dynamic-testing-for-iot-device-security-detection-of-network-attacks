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391" r:id="rId3"/>
    <p:sldId id="390" r:id="rId4"/>
    <p:sldId id="259" r:id="rId5"/>
    <p:sldId id="260" r:id="rId6"/>
    <p:sldId id="406" r:id="rId7"/>
    <p:sldId id="261" r:id="rId8"/>
    <p:sldId id="396" r:id="rId9"/>
    <p:sldId id="262" r:id="rId10"/>
    <p:sldId id="399" r:id="rId11"/>
    <p:sldId id="405" r:id="rId12"/>
    <p:sldId id="382" r:id="rId13"/>
    <p:sldId id="392" r:id="rId14"/>
    <p:sldId id="404" r:id="rId15"/>
    <p:sldId id="403"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3CD7EC-BA3A-4B21-970B-FBB3FD846501}" type="datetimeFigureOut">
              <a:rPr lang="en-IN" smtClean="0"/>
              <a:pPr/>
              <a:t>23-01-2025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1055A5-1705-480E-90FC-E8355D1CE6A8}" type="slidenum">
              <a:rPr lang="en-IN" smtClean="0"/>
              <a:pPr/>
              <a:t>‹#›</a:t>
            </a:fld>
            <a:endParaRPr lang="en-IN"/>
          </a:p>
        </p:txBody>
      </p:sp>
    </p:spTree>
    <p:extLst>
      <p:ext uri="{BB962C8B-B14F-4D97-AF65-F5344CB8AC3E}">
        <p14:creationId xmlns:p14="http://schemas.microsoft.com/office/powerpoint/2010/main" val="2415422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EA5CFE-F01B-B4A0-99C4-159A5BAF02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71F6B13-F440-3700-8EBB-3EE3B1DE5C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5380267-FFBA-0409-3C26-7F7E7ED1A4EA}"/>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5" name="Footer Placeholder 4">
            <a:extLst>
              <a:ext uri="{FF2B5EF4-FFF2-40B4-BE49-F238E27FC236}">
                <a16:creationId xmlns:a16="http://schemas.microsoft.com/office/drawing/2014/main" id="{86208130-64CD-AF59-E354-97ABB3D21F3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9A67689-9596-4D68-00BF-A0ED0BF8DA00}"/>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12918595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D1D15-8418-D259-8746-857F29C36A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14138A8-7E02-DA12-2044-373EBBC9DE4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0A980B9-8FAA-F008-42E7-642CB41434D9}"/>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5" name="Footer Placeholder 4">
            <a:extLst>
              <a:ext uri="{FF2B5EF4-FFF2-40B4-BE49-F238E27FC236}">
                <a16:creationId xmlns:a16="http://schemas.microsoft.com/office/drawing/2014/main" id="{1AAB8D4C-DC2A-7301-74C9-E06957BD60E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4C3DC1B-256D-16B3-06FF-47980EC1F7CC}"/>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1138540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011E3-14F4-84B6-03D0-490F2632A9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1282B1E-F572-C05D-7C2D-F8ECDCDC0A4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AD2F0F4-A416-902F-321B-1EEF73BABAB5}"/>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5" name="Footer Placeholder 4">
            <a:extLst>
              <a:ext uri="{FF2B5EF4-FFF2-40B4-BE49-F238E27FC236}">
                <a16:creationId xmlns:a16="http://schemas.microsoft.com/office/drawing/2014/main" id="{04E1034E-F1D1-3E84-E740-2A9A081C0B7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A171CC9-EC0D-A478-594C-9F398DD7CDE0}"/>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2174511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512AF-AE61-EC45-38FB-21B9D6ABB8A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888B96A-9132-ED03-381C-547783BA69D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6456969-A8EC-9781-DE9C-1FB1E0ABED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C74BB67-07F7-3208-96D7-85923ADD2B5C}"/>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6" name="Footer Placeholder 5">
            <a:extLst>
              <a:ext uri="{FF2B5EF4-FFF2-40B4-BE49-F238E27FC236}">
                <a16:creationId xmlns:a16="http://schemas.microsoft.com/office/drawing/2014/main" id="{9E84A973-491B-9A28-2EC8-3EF1D66F59D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50065A4-E84C-2622-CBE1-8E34D3BB83B5}"/>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24481521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8C9E4-4449-7CB2-6797-443435D0F0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DA8AEA-93FE-1B0C-414E-6DFF503EA4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3BCD752-6CF1-682A-D468-FFBF8E215F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633755-D641-DDD0-2C35-7F15FB8A2B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F6FE8D-4398-3043-9152-D3D38661460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0D98B99-AD44-6662-3BE9-83C60601CBCA}"/>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8" name="Footer Placeholder 7">
            <a:extLst>
              <a:ext uri="{FF2B5EF4-FFF2-40B4-BE49-F238E27FC236}">
                <a16:creationId xmlns:a16="http://schemas.microsoft.com/office/drawing/2014/main" id="{64480C6D-244E-6A63-8569-2128FC747B6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491118B-06C4-AF9D-111D-A550723D72A1}"/>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33270957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9DA7E-4F0C-4F6A-8F2E-9C97F6528A2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AE1628E-D94F-06A8-C4A8-DF2834263D81}"/>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4" name="Footer Placeholder 3">
            <a:extLst>
              <a:ext uri="{FF2B5EF4-FFF2-40B4-BE49-F238E27FC236}">
                <a16:creationId xmlns:a16="http://schemas.microsoft.com/office/drawing/2014/main" id="{D9EC97F7-CABC-224C-5DFA-0BA9A7795D0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66CC88-37BC-B03A-1E76-CE86C22BADF5}"/>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41489086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2A46625-E22C-2886-EAF5-64D1105E94CA}"/>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3" name="Footer Placeholder 2">
            <a:extLst>
              <a:ext uri="{FF2B5EF4-FFF2-40B4-BE49-F238E27FC236}">
                <a16:creationId xmlns:a16="http://schemas.microsoft.com/office/drawing/2014/main" id="{7B657341-DFB4-6D97-E44C-482946573B8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FA4F2C2-8817-E856-2795-192FE9646360}"/>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2206843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4C59F-43CC-9252-11FA-D49DBAF9928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1EFDC94-8810-BA06-591B-4A3FAB8F40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597FF83-47CA-75B6-4F24-C3113731D4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DFE07E-40C5-4781-9C09-8151CD61DBD3}"/>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6" name="Footer Placeholder 5">
            <a:extLst>
              <a:ext uri="{FF2B5EF4-FFF2-40B4-BE49-F238E27FC236}">
                <a16:creationId xmlns:a16="http://schemas.microsoft.com/office/drawing/2014/main" id="{60E19AFA-C244-7FD5-F8D8-251081732F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C1EC65F-2ECF-A67B-276E-EFF7C19E20E9}"/>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2489034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F6E2B7-BAA0-7D3F-B6D9-0137AA38CA0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AED2470-7FF9-7443-46CF-F991ACDD8F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BAC23F0-BEBD-4E4E-741F-4C2BB58659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935FA7-D0CA-4A2F-1A11-DEABCCA55C4F}"/>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6" name="Footer Placeholder 5">
            <a:extLst>
              <a:ext uri="{FF2B5EF4-FFF2-40B4-BE49-F238E27FC236}">
                <a16:creationId xmlns:a16="http://schemas.microsoft.com/office/drawing/2014/main" id="{C241DA1D-FEF7-0C41-95BF-394FFDED12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0104A4E-384B-63C2-F3F0-69FA17A4194D}"/>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27811375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8FC3D-AEEC-9CEE-6670-B5FD584B27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BF1A26B-D509-7B8A-3AF5-2D0E625C214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7DA8613-1B2C-4A07-D04A-E12BA82C23C3}"/>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5" name="Footer Placeholder 4">
            <a:extLst>
              <a:ext uri="{FF2B5EF4-FFF2-40B4-BE49-F238E27FC236}">
                <a16:creationId xmlns:a16="http://schemas.microsoft.com/office/drawing/2014/main" id="{83A6552E-70BC-7BF4-0A47-C8FDDF2D7B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157A639-5651-5911-1FB1-247DFB2B66A3}"/>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3651812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98C598-90DF-1990-C938-5696F5A4933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6008846-E09D-42E4-9D3E-565066046B3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BCB5F79-63BE-8843-D684-4C684B30051A}"/>
              </a:ext>
            </a:extLst>
          </p:cNvPr>
          <p:cNvSpPr>
            <a:spLocks noGrp="1"/>
          </p:cNvSpPr>
          <p:nvPr>
            <p:ph type="dt" sz="half" idx="10"/>
          </p:nvPr>
        </p:nvSpPr>
        <p:spPr/>
        <p:txBody>
          <a:bodyPr/>
          <a:lstStyle/>
          <a:p>
            <a:fld id="{A2C835C4-06FE-457D-9A78-DC08A7B4C25F}" type="datetimeFigureOut">
              <a:rPr lang="en-IN" smtClean="0"/>
              <a:pPr/>
              <a:t>23-01-2025</a:t>
            </a:fld>
            <a:endParaRPr lang="en-IN"/>
          </a:p>
        </p:txBody>
      </p:sp>
      <p:sp>
        <p:nvSpPr>
          <p:cNvPr id="5" name="Footer Placeholder 4">
            <a:extLst>
              <a:ext uri="{FF2B5EF4-FFF2-40B4-BE49-F238E27FC236}">
                <a16:creationId xmlns:a16="http://schemas.microsoft.com/office/drawing/2014/main" id="{816E8A4C-1015-C6A7-F137-DB517370C14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6CF523B-B01D-840B-6979-F905111992C6}"/>
              </a:ext>
            </a:extLst>
          </p:cNvPr>
          <p:cNvSpPr>
            <a:spLocks noGrp="1"/>
          </p:cNvSpPr>
          <p:nvPr>
            <p:ph type="sldNum" sz="quarter" idx="12"/>
          </p:nvPr>
        </p:nvSpPr>
        <p:spPr/>
        <p:txBody>
          <a:bodyPr/>
          <a:lstStyle/>
          <a:p>
            <a:fld id="{5400AA31-13DD-4EB2-94A1-4FAB8E86FB75}" type="slidenum">
              <a:rPr lang="en-IN" smtClean="0"/>
              <a:pPr/>
              <a:t>‹#›</a:t>
            </a:fld>
            <a:endParaRPr lang="en-IN"/>
          </a:p>
        </p:txBody>
      </p:sp>
    </p:spTree>
    <p:extLst>
      <p:ext uri="{BB962C8B-B14F-4D97-AF65-F5344CB8AC3E}">
        <p14:creationId xmlns:p14="http://schemas.microsoft.com/office/powerpoint/2010/main" val="33690865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2297041-4462-C8FA-F1F8-0663E664980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C5867AF-0AE1-6375-D961-2643B6D516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CF1522-501E-364B-504D-56057623DF8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C835C4-06FE-457D-9A78-DC08A7B4C25F}" type="datetimeFigureOut">
              <a:rPr lang="en-IN" smtClean="0"/>
              <a:pPr/>
              <a:t>23-01-2025</a:t>
            </a:fld>
            <a:endParaRPr lang="en-IN"/>
          </a:p>
        </p:txBody>
      </p:sp>
      <p:sp>
        <p:nvSpPr>
          <p:cNvPr id="5" name="Footer Placeholder 4">
            <a:extLst>
              <a:ext uri="{FF2B5EF4-FFF2-40B4-BE49-F238E27FC236}">
                <a16:creationId xmlns:a16="http://schemas.microsoft.com/office/drawing/2014/main" id="{B8079816-E1A1-8CA8-5537-F696ED46DD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5CCB9D55-A358-B400-E517-BC7BAD808B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400AA31-13DD-4EB2-94A1-4FAB8E86FB75}" type="slidenum">
              <a:rPr lang="en-IN" smtClean="0"/>
              <a:pPr/>
              <a:t>‹#›</a:t>
            </a:fld>
            <a:endParaRPr lang="en-IN"/>
          </a:p>
        </p:txBody>
      </p:sp>
    </p:spTree>
    <p:extLst>
      <p:ext uri="{BB962C8B-B14F-4D97-AF65-F5344CB8AC3E}">
        <p14:creationId xmlns:p14="http://schemas.microsoft.com/office/powerpoint/2010/main" val="26617294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CF570B-5F4E-26C5-2657-D01FCFB2F9A9}"/>
              </a:ext>
            </a:extLst>
          </p:cNvPr>
          <p:cNvSpPr>
            <a:spLocks noGrp="1"/>
          </p:cNvSpPr>
          <p:nvPr>
            <p:ph type="ctrTitle"/>
          </p:nvPr>
        </p:nvSpPr>
        <p:spPr>
          <a:xfrm>
            <a:off x="923132" y="1111045"/>
            <a:ext cx="10053484" cy="1651666"/>
          </a:xfrm>
        </p:spPr>
        <p:txBody>
          <a:bodyPr>
            <a:noAutofit/>
          </a:bodyPr>
          <a:lstStyle/>
          <a:p>
            <a:r>
              <a:rPr lang="en-IN" sz="4400" dirty="0">
                <a:latin typeface="Times New Roman" panose="02020603050405020304" pitchFamily="18" charset="0"/>
                <a:cs typeface="Times New Roman" panose="02020603050405020304" pitchFamily="18" charset="0"/>
              </a:rPr>
              <a:t>AI-Driven Dynamic Testing for IoT Device Security: Detection of Network Attacks</a:t>
            </a:r>
          </a:p>
        </p:txBody>
      </p:sp>
      <p:sp>
        <p:nvSpPr>
          <p:cNvPr id="3" name="Subtitle 2">
            <a:extLst>
              <a:ext uri="{FF2B5EF4-FFF2-40B4-BE49-F238E27FC236}">
                <a16:creationId xmlns:a16="http://schemas.microsoft.com/office/drawing/2014/main" id="{E528773F-DB9C-E5BF-5C0A-72CB6D42ED9D}"/>
              </a:ext>
            </a:extLst>
          </p:cNvPr>
          <p:cNvSpPr>
            <a:spLocks noGrp="1"/>
          </p:cNvSpPr>
          <p:nvPr>
            <p:ph type="subTitle" idx="1"/>
          </p:nvPr>
        </p:nvSpPr>
        <p:spPr>
          <a:xfrm>
            <a:off x="1084452" y="3484057"/>
            <a:ext cx="4215135" cy="2402602"/>
          </a:xfrm>
        </p:spPr>
        <p:txBody>
          <a:bodyPr vert="horz" lIns="91440" tIns="45720" rIns="91440" bIns="45720" rtlCol="0" anchor="t">
            <a:normAutofit fontScale="92500" lnSpcReduction="10000"/>
          </a:bodyPr>
          <a:lstStyle/>
          <a:p>
            <a:r>
              <a:rPr lang="en-US" b="1" dirty="0">
                <a:latin typeface="Times New Roman" panose="02020603050405020304" pitchFamily="18" charset="0"/>
                <a:cs typeface="Times New Roman" panose="02020603050405020304" pitchFamily="18" charset="0"/>
              </a:rPr>
              <a:t>Guide Details</a:t>
            </a:r>
          </a:p>
          <a:p>
            <a:r>
              <a:rPr lang="en-US" sz="2200" dirty="0">
                <a:latin typeface="Times New Roman"/>
                <a:cs typeface="Times New Roman"/>
              </a:rPr>
              <a:t>Dr. L. Rajesh</a:t>
            </a:r>
          </a:p>
          <a:p>
            <a:r>
              <a:rPr lang="en-IN" sz="2200" dirty="0">
                <a:latin typeface="Times New Roman"/>
                <a:cs typeface="Times New Roman"/>
              </a:rPr>
              <a:t>Teaching Fellow</a:t>
            </a:r>
          </a:p>
          <a:p>
            <a:r>
              <a:rPr lang="en-IN" sz="2200" dirty="0">
                <a:latin typeface="Times New Roman"/>
                <a:cs typeface="Times New Roman"/>
              </a:rPr>
              <a:t>Department of Electronics Engineering</a:t>
            </a:r>
          </a:p>
          <a:p>
            <a:r>
              <a:rPr lang="en-IN" sz="2200" dirty="0">
                <a:latin typeface="Times New Roman" panose="02020603050405020304" pitchFamily="18" charset="0"/>
                <a:cs typeface="Times New Roman" panose="02020603050405020304" pitchFamily="18" charset="0"/>
              </a:rPr>
              <a:t>Madras Institute of Technology</a:t>
            </a:r>
          </a:p>
          <a:p>
            <a:r>
              <a:rPr lang="en-IN" sz="2200" dirty="0">
                <a:latin typeface="Times New Roman" panose="02020603050405020304" pitchFamily="18" charset="0"/>
                <a:cs typeface="Times New Roman" panose="02020603050405020304" pitchFamily="18" charset="0"/>
              </a:rPr>
              <a:t>Anna Universit</a:t>
            </a:r>
            <a:r>
              <a:rPr lang="en-IN" dirty="0">
                <a:latin typeface="Times New Roman" panose="02020603050405020304" pitchFamily="18" charset="0"/>
                <a:cs typeface="Times New Roman" panose="02020603050405020304" pitchFamily="18" charset="0"/>
              </a:rPr>
              <a:t>y</a:t>
            </a:r>
          </a:p>
        </p:txBody>
      </p:sp>
      <p:sp>
        <p:nvSpPr>
          <p:cNvPr id="4" name="Subtitle 2">
            <a:extLst>
              <a:ext uri="{FF2B5EF4-FFF2-40B4-BE49-F238E27FC236}">
                <a16:creationId xmlns:a16="http://schemas.microsoft.com/office/drawing/2014/main" id="{41244CDC-0D74-C410-C508-8F71EC7CBAD5}"/>
              </a:ext>
            </a:extLst>
          </p:cNvPr>
          <p:cNvSpPr txBox="1">
            <a:spLocks/>
          </p:cNvSpPr>
          <p:nvPr/>
        </p:nvSpPr>
        <p:spPr>
          <a:xfrm>
            <a:off x="6418503" y="3426183"/>
            <a:ext cx="4937880" cy="2777972"/>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200" b="1" dirty="0">
                <a:latin typeface="Times New Roman"/>
                <a:cs typeface="Times New Roman"/>
              </a:rPr>
              <a:t>Team Members</a:t>
            </a:r>
          </a:p>
          <a:p>
            <a:r>
              <a:rPr lang="en-US" sz="1900" dirty="0">
                <a:latin typeface="Times New Roman"/>
                <a:cs typeface="Times New Roman"/>
              </a:rPr>
              <a:t>Anusnekhaa L N-2021504503</a:t>
            </a:r>
            <a:endParaRPr lang="en-US" sz="1900" dirty="0">
              <a:cs typeface="Calibri"/>
            </a:endParaRPr>
          </a:p>
          <a:p>
            <a:r>
              <a:rPr lang="en-US" sz="1900" dirty="0">
                <a:latin typeface="Times New Roman"/>
                <a:cs typeface="Times New Roman"/>
              </a:rPr>
              <a:t>Reshmi M J-2021504537</a:t>
            </a:r>
            <a:endParaRPr lang="en-US" sz="1900" dirty="0">
              <a:latin typeface="Times New Roman" panose="02020603050405020304" pitchFamily="18" charset="0"/>
              <a:cs typeface="Times New Roman" panose="02020603050405020304" pitchFamily="18" charset="0"/>
            </a:endParaRPr>
          </a:p>
          <a:p>
            <a:r>
              <a:rPr lang="en-US" sz="1900" dirty="0">
                <a:latin typeface="Times New Roman"/>
                <a:cs typeface="Times New Roman"/>
              </a:rPr>
              <a:t>Gokul Raj S-2021504714</a:t>
            </a:r>
          </a:p>
          <a:p>
            <a:r>
              <a:rPr lang="en-IN" sz="1900" dirty="0">
                <a:latin typeface="Times New Roman"/>
                <a:cs typeface="Times New Roman"/>
              </a:rPr>
              <a:t>Department of Electronics Engineering</a:t>
            </a:r>
          </a:p>
          <a:p>
            <a:r>
              <a:rPr lang="en-IN" sz="1900" dirty="0">
                <a:latin typeface="Times New Roman"/>
                <a:cs typeface="Times New Roman"/>
              </a:rPr>
              <a:t>Madras Institute of Technology</a:t>
            </a:r>
          </a:p>
          <a:p>
            <a:r>
              <a:rPr lang="en-IN" sz="1900" dirty="0">
                <a:latin typeface="Times New Roman"/>
                <a:cs typeface="Times New Roman"/>
              </a:rPr>
              <a:t>Anna University</a:t>
            </a:r>
          </a:p>
        </p:txBody>
      </p:sp>
      <p:pic>
        <p:nvPicPr>
          <p:cNvPr id="6" name="Picture 6" descr="download.jpg">
            <a:extLst>
              <a:ext uri="{FF2B5EF4-FFF2-40B4-BE49-F238E27FC236}">
                <a16:creationId xmlns:a16="http://schemas.microsoft.com/office/drawing/2014/main" id="{0C2AAD13-3DB6-7FF9-1E8D-3E195769A04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1" y="348344"/>
            <a:ext cx="13890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CEG Outlook">
            <a:extLst>
              <a:ext uri="{FF2B5EF4-FFF2-40B4-BE49-F238E27FC236}">
                <a16:creationId xmlns:a16="http://schemas.microsoft.com/office/drawing/2014/main" id="{04A9A187-6FA1-099B-8A82-3029D6D403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350"/>
          <a:stretch>
            <a:fillRect/>
          </a:stretch>
        </p:blipFill>
        <p:spPr bwMode="auto">
          <a:xfrm>
            <a:off x="10773002" y="348797"/>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53245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3B1B0-28A8-CD2F-7F86-E44F451AA5F4}"/>
              </a:ext>
            </a:extLst>
          </p:cNvPr>
          <p:cNvSpPr>
            <a:spLocks noGrp="1"/>
          </p:cNvSpPr>
          <p:nvPr>
            <p:ph type="title"/>
          </p:nvPr>
        </p:nvSpPr>
        <p:spPr>
          <a:xfrm>
            <a:off x="1613807" y="365125"/>
            <a:ext cx="9726386" cy="1352777"/>
          </a:xfrm>
        </p:spPr>
        <p:txBody>
          <a:bodyPr/>
          <a:lstStyle/>
          <a:p>
            <a:r>
              <a:rPr lang="en-US">
                <a:latin typeface="Times New Roman"/>
                <a:cs typeface="Calibri Light"/>
              </a:rPr>
              <a:t>OUTLINE</a:t>
            </a:r>
            <a:endParaRPr lang="en-US">
              <a:latin typeface="Times New Roman"/>
            </a:endParaRPr>
          </a:p>
        </p:txBody>
      </p:sp>
      <p:sp>
        <p:nvSpPr>
          <p:cNvPr id="6" name="Content Placeholder 5">
            <a:extLst>
              <a:ext uri="{FF2B5EF4-FFF2-40B4-BE49-F238E27FC236}">
                <a16:creationId xmlns:a16="http://schemas.microsoft.com/office/drawing/2014/main" id="{13C55304-70F2-DC9C-B6AA-46250824A0E9}"/>
              </a:ext>
            </a:extLst>
          </p:cNvPr>
          <p:cNvSpPr>
            <a:spLocks noGrp="1"/>
          </p:cNvSpPr>
          <p:nvPr>
            <p:ph idx="1"/>
          </p:nvPr>
        </p:nvSpPr>
        <p:spPr>
          <a:xfrm>
            <a:off x="1613807" y="1730375"/>
            <a:ext cx="9726386" cy="4446588"/>
          </a:xfrm>
        </p:spPr>
        <p:txBody>
          <a:bodyPr vert="horz" lIns="91440" tIns="45720" rIns="91440" bIns="45720" rtlCol="0" anchor="t">
            <a:normAutofit/>
          </a:bodyPr>
          <a:lstStyle/>
          <a:p>
            <a:r>
              <a:rPr lang="en-US" dirty="0">
                <a:latin typeface="Times New Roman"/>
                <a:cs typeface="Times New Roman"/>
              </a:rPr>
              <a:t>Introduction</a:t>
            </a:r>
          </a:p>
          <a:p>
            <a:r>
              <a:rPr lang="en-US" dirty="0">
                <a:latin typeface="Times New Roman"/>
                <a:cs typeface="Times New Roman"/>
              </a:rPr>
              <a:t>Motivation</a:t>
            </a:r>
          </a:p>
          <a:p>
            <a:r>
              <a:rPr lang="en-US" dirty="0">
                <a:latin typeface="Times New Roman"/>
                <a:cs typeface="Times New Roman"/>
              </a:rPr>
              <a:t>Objective</a:t>
            </a:r>
          </a:p>
          <a:p>
            <a:r>
              <a:rPr lang="en-US" dirty="0">
                <a:latin typeface="Times New Roman"/>
                <a:cs typeface="Times New Roman"/>
              </a:rPr>
              <a:t>Previous Work</a:t>
            </a:r>
          </a:p>
          <a:p>
            <a:r>
              <a:rPr lang="en-US" dirty="0">
                <a:latin typeface="Times New Roman"/>
                <a:cs typeface="Times New Roman"/>
              </a:rPr>
              <a:t>Literature Survey</a:t>
            </a:r>
          </a:p>
          <a:p>
            <a:r>
              <a:rPr lang="en-US" dirty="0">
                <a:latin typeface="Times New Roman"/>
                <a:cs typeface="Times New Roman"/>
              </a:rPr>
              <a:t>Block Diagram</a:t>
            </a:r>
          </a:p>
          <a:p>
            <a:r>
              <a:rPr lang="en-US" dirty="0">
                <a:latin typeface="Times New Roman"/>
                <a:cs typeface="Times New Roman"/>
              </a:rPr>
              <a:t>Work Plan</a:t>
            </a:r>
          </a:p>
          <a:p>
            <a:r>
              <a:rPr lang="en-US" dirty="0">
                <a:latin typeface="Times New Roman"/>
                <a:cs typeface="Times New Roman"/>
              </a:rPr>
              <a:t>References</a:t>
            </a:r>
          </a:p>
          <a:p>
            <a:endParaRPr lang="en-US" dirty="0">
              <a:latin typeface="Times New Roman"/>
              <a:cs typeface="Calibri"/>
            </a:endParaRPr>
          </a:p>
        </p:txBody>
      </p:sp>
      <p:pic>
        <p:nvPicPr>
          <p:cNvPr id="10" name="Picture 2" descr="CEG Outlook">
            <a:extLst>
              <a:ext uri="{FF2B5EF4-FFF2-40B4-BE49-F238E27FC236}">
                <a16:creationId xmlns:a16="http://schemas.microsoft.com/office/drawing/2014/main" id="{920BA23E-FB71-C713-34AC-A43197FB8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50"/>
          <a:stretch>
            <a:fillRect/>
          </a:stretch>
        </p:blipFill>
        <p:spPr bwMode="auto">
          <a:xfrm>
            <a:off x="10773002" y="348797"/>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 descr="download.jpg">
            <a:extLst>
              <a:ext uri="{FF2B5EF4-FFF2-40B4-BE49-F238E27FC236}">
                <a16:creationId xmlns:a16="http://schemas.microsoft.com/office/drawing/2014/main" id="{E1E8CD52-F6FD-ACD6-0363-156786617815}"/>
              </a:ext>
            </a:extLst>
          </p:cNvPr>
          <p:cNvPicPr>
            <a:picLocks noChangeAspect="1"/>
          </p:cNvPicPr>
          <p:nvPr/>
        </p:nvPicPr>
        <p:blipFill>
          <a:blip r:embed="rId3">
            <a:extLst>
              <a:ext uri="{28A0092B-C50C-407E-A947-70E740481C1C}">
                <a14:useLocalDpi xmlns:a14="http://schemas.microsoft.com/office/drawing/2010/main" val="0"/>
              </a:ext>
            </a:extLst>
          </a:blip>
          <a:srcRect l="1961" r="-1961"/>
          <a:stretch/>
        </p:blipFill>
        <p:spPr bwMode="auto">
          <a:xfrm>
            <a:off x="228601" y="359230"/>
            <a:ext cx="1389067" cy="10969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839544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87E6-24B4-E54C-34E8-1A94FF8712C5}"/>
              </a:ext>
            </a:extLst>
          </p:cNvPr>
          <p:cNvSpPr>
            <a:spLocks noGrp="1"/>
          </p:cNvSpPr>
          <p:nvPr>
            <p:ph type="title"/>
          </p:nvPr>
        </p:nvSpPr>
        <p:spPr>
          <a:xfrm>
            <a:off x="1737082" y="366306"/>
            <a:ext cx="9707262" cy="923969"/>
          </a:xfrm>
        </p:spPr>
        <p:txBody>
          <a:bodyPr>
            <a:normAutofit/>
          </a:bodyPr>
          <a:lstStyle/>
          <a:p>
            <a:r>
              <a:rPr lang="en-US" sz="4000" dirty="0">
                <a:latin typeface="Times New Roman"/>
                <a:cs typeface="Calibri Light"/>
              </a:rPr>
              <a:t>INTRODUCTION</a:t>
            </a:r>
            <a:endParaRPr lang="en-US" sz="4000" dirty="0">
              <a:latin typeface="Times New Roman"/>
            </a:endParaRPr>
          </a:p>
        </p:txBody>
      </p:sp>
      <p:pic>
        <p:nvPicPr>
          <p:cNvPr id="4" name="Picture 2" descr="CEG Outlook">
            <a:extLst>
              <a:ext uri="{FF2B5EF4-FFF2-40B4-BE49-F238E27FC236}">
                <a16:creationId xmlns:a16="http://schemas.microsoft.com/office/drawing/2014/main" id="{AACC8AEB-0D1A-184F-4520-F6A2CD78AB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7284" b="-12346"/>
          <a:stretch/>
        </p:blipFill>
        <p:spPr bwMode="auto">
          <a:xfrm>
            <a:off x="10461770" y="366306"/>
            <a:ext cx="1103312" cy="10491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download.jpg">
            <a:extLst>
              <a:ext uri="{FF2B5EF4-FFF2-40B4-BE49-F238E27FC236}">
                <a16:creationId xmlns:a16="http://schemas.microsoft.com/office/drawing/2014/main" id="{C4074567-2F49-75DA-A495-E9502C78A6FF}"/>
              </a:ext>
            </a:extLst>
          </p:cNvPr>
          <p:cNvPicPr>
            <a:picLocks noChangeAspect="1"/>
          </p:cNvPicPr>
          <p:nvPr/>
        </p:nvPicPr>
        <p:blipFill>
          <a:blip r:embed="rId3">
            <a:extLst>
              <a:ext uri="{28A0092B-C50C-407E-A947-70E740481C1C}">
                <a14:useLocalDpi xmlns:a14="http://schemas.microsoft.com/office/drawing/2010/main" val="0"/>
              </a:ext>
            </a:extLst>
          </a:blip>
          <a:srcRect l="3922" t="9876" r="-3922" b="-8642"/>
          <a:stretch/>
        </p:blipFill>
        <p:spPr bwMode="auto">
          <a:xfrm>
            <a:off x="260942" y="366306"/>
            <a:ext cx="1389064" cy="1083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TextBox 14">
            <a:extLst>
              <a:ext uri="{FF2B5EF4-FFF2-40B4-BE49-F238E27FC236}">
                <a16:creationId xmlns:a16="http://schemas.microsoft.com/office/drawing/2014/main" id="{12B52C97-BD87-1028-4267-3CA488719A4A}"/>
              </a:ext>
            </a:extLst>
          </p:cNvPr>
          <p:cNvSpPr txBox="1"/>
          <p:nvPr/>
        </p:nvSpPr>
        <p:spPr>
          <a:xfrm>
            <a:off x="436418" y="1290275"/>
            <a:ext cx="11128664" cy="5539978"/>
          </a:xfrm>
          <a:prstGeom prst="rect">
            <a:avLst/>
          </a:prstGeom>
          <a:noFill/>
        </p:spPr>
        <p:txBody>
          <a:bodyPr wrap="square" rtlCol="0">
            <a:spAutoFit/>
          </a:bodyPr>
          <a:lstStyle/>
          <a:p>
            <a:pPr marL="457200" lvl="0" indent="-355600" algn="just" rtl="0">
              <a:spcBef>
                <a:spcPts val="0"/>
              </a:spcBef>
              <a:spcAft>
                <a:spcPts val="0"/>
              </a:spcAft>
              <a:buSzPts val="2000"/>
              <a:buFont typeface="Times New Roman"/>
              <a:buChar char="•"/>
            </a:pPr>
            <a:r>
              <a:rPr lang="en-US" sz="2400" dirty="0">
                <a:latin typeface="Times New Roman"/>
                <a:ea typeface="Times New Roman"/>
                <a:cs typeface="Times New Roman"/>
                <a:sym typeface="Times New Roman"/>
              </a:rPr>
              <a:t>Internet of Things (IoT) devices are computerized Internet-connected objects, such as networked security cameras, smart refrigerators, and </a:t>
            </a:r>
            <a:r>
              <a:rPr lang="en-US" sz="2400" dirty="0" err="1">
                <a:latin typeface="Times New Roman"/>
                <a:ea typeface="Times New Roman"/>
                <a:cs typeface="Times New Roman"/>
                <a:sym typeface="Times New Roman"/>
              </a:rPr>
              <a:t>WiFi</a:t>
            </a:r>
            <a:r>
              <a:rPr lang="en-US" sz="2400" dirty="0">
                <a:latin typeface="Times New Roman"/>
                <a:ea typeface="Times New Roman"/>
                <a:cs typeface="Times New Roman"/>
                <a:sym typeface="Times New Roman"/>
              </a:rPr>
              <a:t>-capable automobiles.</a:t>
            </a:r>
          </a:p>
          <a:p>
            <a:pPr marL="457200" lvl="0" indent="-355600" algn="just" rtl="0">
              <a:spcBef>
                <a:spcPts val="0"/>
              </a:spcBef>
              <a:spcAft>
                <a:spcPts val="0"/>
              </a:spcAft>
              <a:buSzPts val="2000"/>
              <a:buFont typeface="Times New Roman"/>
              <a:buChar char="•"/>
            </a:pPr>
            <a:r>
              <a:rPr lang="en-US" sz="2400" dirty="0">
                <a:latin typeface="Times New Roman"/>
                <a:ea typeface="Times New Roman"/>
                <a:cs typeface="Times New Roman"/>
                <a:sym typeface="Times New Roman"/>
              </a:rPr>
              <a:t>The surge in the usage of IoT devices introduces significant vulnerabilities, demanding robust security measures.</a:t>
            </a:r>
          </a:p>
          <a:p>
            <a:pPr marL="457200" lvl="0" indent="-355600" algn="just" rtl="0">
              <a:spcBef>
                <a:spcPts val="0"/>
              </a:spcBef>
              <a:spcAft>
                <a:spcPts val="0"/>
              </a:spcAft>
              <a:buSzPts val="2000"/>
              <a:buFont typeface="Times New Roman"/>
              <a:buChar char="•"/>
            </a:pPr>
            <a:r>
              <a:rPr lang="en-US" sz="2400" dirty="0">
                <a:latin typeface="Times New Roman"/>
                <a:ea typeface="Times New Roman"/>
                <a:cs typeface="Times New Roman"/>
                <a:sym typeface="Times New Roman"/>
              </a:rPr>
              <a:t>Sophisticated threats such as DoS, Botnet, DDoS and MITM attacks increasingly exploit IoT's interconnected nature, making traditional defenses inadequate.</a:t>
            </a:r>
          </a:p>
          <a:p>
            <a:pPr marL="457200" lvl="0" indent="-355600" algn="just" rtl="0">
              <a:spcBef>
                <a:spcPts val="0"/>
              </a:spcBef>
              <a:spcAft>
                <a:spcPts val="0"/>
              </a:spcAft>
              <a:buSzPts val="2000"/>
              <a:buFont typeface="Times New Roman"/>
              <a:buChar char="•"/>
            </a:pPr>
            <a:r>
              <a:rPr lang="en-US" sz="2400" dirty="0">
                <a:latin typeface="Times New Roman"/>
                <a:ea typeface="Times New Roman"/>
                <a:cs typeface="Times New Roman"/>
                <a:sym typeface="Times New Roman"/>
              </a:rPr>
              <a:t>Evolving cyber threats call for advanced security strategies for accurate detection of these attacks, beyond the reach of simple conventional methods.</a:t>
            </a:r>
          </a:p>
          <a:p>
            <a:pPr marL="457200" indent="-355600" algn="just">
              <a:buSzPts val="2000"/>
              <a:buFont typeface="Times New Roman"/>
              <a:buChar char="•"/>
            </a:pPr>
            <a:r>
              <a:rPr lang="en-US" sz="2400" dirty="0">
                <a:latin typeface="Times New Roman" pitchFamily="18" charset="0"/>
                <a:cs typeface="Times New Roman" pitchFamily="18" charset="0"/>
              </a:rPr>
              <a:t>AI powered threat detection systems offer a proactive approach, capable of learning from large datasets, recognizing hidden patterns, and identifying anomalies in real-time. By l</a:t>
            </a:r>
            <a:r>
              <a:rPr lang="en-US" sz="2400" dirty="0">
                <a:latin typeface="Times New Roman"/>
                <a:ea typeface="Times New Roman"/>
                <a:cs typeface="Times New Roman"/>
                <a:sym typeface="Times New Roman"/>
              </a:rPr>
              <a:t>everaging Artificial Intelligence, particularly Deep Learning Techniques and by incorporating dynamic testing, swift IoT threat detection can be enhanced with high accuracy.</a:t>
            </a:r>
          </a:p>
          <a:p>
            <a:pPr marL="457200" lvl="0" indent="-355600" algn="just" rtl="0">
              <a:spcBef>
                <a:spcPts val="0"/>
              </a:spcBef>
              <a:spcAft>
                <a:spcPts val="0"/>
              </a:spcAft>
              <a:buSzPts val="2000"/>
              <a:buFont typeface="Times New Roman"/>
              <a:buChar char="•"/>
            </a:pPr>
            <a:endParaRPr lang="en-US" sz="2400" dirty="0">
              <a:latin typeface="Times New Roman" pitchFamily="18" charset="0"/>
              <a:cs typeface="Times New Roman" pitchFamily="18" charset="0"/>
            </a:endParaRPr>
          </a:p>
          <a:p>
            <a:endParaRPr lang="en-IN" dirty="0"/>
          </a:p>
        </p:txBody>
      </p:sp>
    </p:spTree>
    <p:extLst>
      <p:ext uri="{BB962C8B-B14F-4D97-AF65-F5344CB8AC3E}">
        <p14:creationId xmlns:p14="http://schemas.microsoft.com/office/powerpoint/2010/main" val="3268760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02967-A7A5-E298-4C43-BEE5F42F5F72}"/>
              </a:ext>
            </a:extLst>
          </p:cNvPr>
          <p:cNvSpPr>
            <a:spLocks noGrp="1"/>
          </p:cNvSpPr>
          <p:nvPr>
            <p:ph type="title"/>
          </p:nvPr>
        </p:nvSpPr>
        <p:spPr>
          <a:xfrm>
            <a:off x="1627414" y="351518"/>
            <a:ext cx="9712779" cy="1366384"/>
          </a:xfrm>
        </p:spPr>
        <p:txBody>
          <a:bodyPr>
            <a:normAutofit/>
          </a:bodyPr>
          <a:lstStyle/>
          <a:p>
            <a:r>
              <a:rPr lang="en-US" sz="4000">
                <a:latin typeface="Times New Roman"/>
                <a:cs typeface="Times New Roman"/>
              </a:rPr>
              <a:t>MOTIVATION</a:t>
            </a:r>
            <a:endParaRPr lang="en-IN" sz="4000">
              <a:latin typeface="Times New Roman"/>
              <a:cs typeface="Times New Roman"/>
            </a:endParaRPr>
          </a:p>
        </p:txBody>
      </p:sp>
      <p:sp>
        <p:nvSpPr>
          <p:cNvPr id="3" name="Content Placeholder 2">
            <a:extLst>
              <a:ext uri="{FF2B5EF4-FFF2-40B4-BE49-F238E27FC236}">
                <a16:creationId xmlns:a16="http://schemas.microsoft.com/office/drawing/2014/main" id="{C236F93E-E61C-18B7-3AFE-76826538D148}"/>
              </a:ext>
            </a:extLst>
          </p:cNvPr>
          <p:cNvSpPr>
            <a:spLocks noGrp="1"/>
          </p:cNvSpPr>
          <p:nvPr>
            <p:ph idx="1"/>
          </p:nvPr>
        </p:nvSpPr>
        <p:spPr>
          <a:xfrm>
            <a:off x="401870" y="1854736"/>
            <a:ext cx="11194942" cy="4899640"/>
          </a:xfrm>
        </p:spPr>
        <p:txBody>
          <a:bodyPr vert="horz" lIns="91440" tIns="45720" rIns="91440" bIns="45720" rtlCol="0" anchor="t">
            <a:normAutofit fontScale="25000" lnSpcReduction="20000"/>
          </a:bodyPr>
          <a:lstStyle/>
          <a:p>
            <a:pPr marL="457200" lvl="0" indent="-355600" algn="just" rtl="0">
              <a:lnSpc>
                <a:spcPct val="120000"/>
              </a:lnSpc>
              <a:spcBef>
                <a:spcPts val="0"/>
              </a:spcBef>
              <a:spcAft>
                <a:spcPts val="0"/>
              </a:spcAft>
              <a:buSzPts val="2000"/>
              <a:buFont typeface="Arial"/>
              <a:buChar char="•"/>
            </a:pPr>
            <a:r>
              <a:rPr lang="en-US" sz="9600" b="1" dirty="0">
                <a:latin typeface="Times New Roman"/>
                <a:ea typeface="Times New Roman"/>
                <a:cs typeface="Times New Roman"/>
                <a:sym typeface="Times New Roman"/>
              </a:rPr>
              <a:t>Widespread IoT Adoption</a:t>
            </a:r>
            <a:r>
              <a:rPr lang="en-US" sz="9600" dirty="0">
                <a:latin typeface="Times New Roman"/>
                <a:ea typeface="Times New Roman"/>
                <a:cs typeface="Times New Roman"/>
                <a:sym typeface="Times New Roman"/>
              </a:rPr>
              <a:t>: IoT is now adapted by all domains, creating a complex network ecosystem.</a:t>
            </a:r>
          </a:p>
          <a:p>
            <a:pPr marL="457200" lvl="0" indent="-355600" algn="just" rtl="0">
              <a:lnSpc>
                <a:spcPct val="120000"/>
              </a:lnSpc>
              <a:spcBef>
                <a:spcPts val="0"/>
              </a:spcBef>
              <a:spcAft>
                <a:spcPts val="0"/>
              </a:spcAft>
              <a:buSzPts val="2000"/>
              <a:buFont typeface="Arial"/>
              <a:buChar char="•"/>
            </a:pPr>
            <a:r>
              <a:rPr lang="en-US" sz="9600" b="1" dirty="0">
                <a:latin typeface="Times New Roman"/>
                <a:ea typeface="Times New Roman"/>
                <a:cs typeface="Times New Roman"/>
                <a:sym typeface="Times New Roman"/>
              </a:rPr>
              <a:t>Increasing Threats</a:t>
            </a:r>
            <a:r>
              <a:rPr lang="en-US" sz="9600" dirty="0">
                <a:latin typeface="Times New Roman"/>
                <a:ea typeface="Times New Roman"/>
                <a:cs typeface="Times New Roman"/>
                <a:sym typeface="Times New Roman"/>
              </a:rPr>
              <a:t>: IoT networks are prime targets for cyberattacks, particularly DDoS and MITM attacks, involving communication between multiple servers.</a:t>
            </a:r>
          </a:p>
          <a:p>
            <a:pPr marL="457200" lvl="0" indent="-355600" algn="just" rtl="0">
              <a:lnSpc>
                <a:spcPct val="120000"/>
              </a:lnSpc>
              <a:spcBef>
                <a:spcPts val="0"/>
              </a:spcBef>
              <a:spcAft>
                <a:spcPts val="0"/>
              </a:spcAft>
              <a:buSzPts val="2000"/>
              <a:buFont typeface="Arial"/>
              <a:buChar char="•"/>
            </a:pPr>
            <a:r>
              <a:rPr lang="en-US" sz="9600" b="1" dirty="0">
                <a:latin typeface="Times New Roman"/>
                <a:ea typeface="Times New Roman"/>
                <a:cs typeface="Times New Roman"/>
                <a:sym typeface="Times New Roman"/>
              </a:rPr>
              <a:t>Device Weaknesses</a:t>
            </a:r>
            <a:r>
              <a:rPr lang="en-US" sz="9600" dirty="0">
                <a:latin typeface="Times New Roman"/>
                <a:ea typeface="Times New Roman"/>
                <a:cs typeface="Times New Roman"/>
                <a:sym typeface="Times New Roman"/>
              </a:rPr>
              <a:t>: Many IoT devices lack strong security, making them vulnerable to exploitation.</a:t>
            </a:r>
          </a:p>
          <a:p>
            <a:pPr marL="457200" lvl="0" indent="-355600" algn="just" rtl="0">
              <a:lnSpc>
                <a:spcPct val="120000"/>
              </a:lnSpc>
              <a:spcBef>
                <a:spcPts val="0"/>
              </a:spcBef>
              <a:spcAft>
                <a:spcPts val="0"/>
              </a:spcAft>
              <a:buSzPts val="2000"/>
              <a:buFont typeface="Arial"/>
              <a:buChar char="•"/>
            </a:pPr>
            <a:r>
              <a:rPr lang="en-US" sz="9600" b="1" dirty="0">
                <a:latin typeface="Times New Roman"/>
                <a:ea typeface="Times New Roman"/>
                <a:cs typeface="Times New Roman"/>
                <a:sym typeface="Times New Roman"/>
              </a:rPr>
              <a:t>Need for Advanced Security</a:t>
            </a:r>
            <a:r>
              <a:rPr lang="en-US" sz="9600" dirty="0">
                <a:latin typeface="Times New Roman"/>
                <a:ea typeface="Times New Roman"/>
                <a:cs typeface="Times New Roman"/>
                <a:sym typeface="Times New Roman"/>
              </a:rPr>
              <a:t>: Conventional security measures fall short against the evolving and sophisticated nature of IoT threats.</a:t>
            </a:r>
          </a:p>
          <a:p>
            <a:pPr marL="457200" lvl="0" indent="-355600" algn="just" rtl="0">
              <a:lnSpc>
                <a:spcPct val="120000"/>
              </a:lnSpc>
              <a:spcBef>
                <a:spcPts val="0"/>
              </a:spcBef>
              <a:spcAft>
                <a:spcPts val="0"/>
              </a:spcAft>
              <a:buSzPts val="2000"/>
              <a:buFont typeface="Arial"/>
              <a:buChar char="•"/>
            </a:pPr>
            <a:r>
              <a:rPr lang="en-US" sz="9600" b="1" dirty="0">
                <a:latin typeface="Times New Roman"/>
                <a:ea typeface="Times New Roman"/>
                <a:cs typeface="Times New Roman"/>
                <a:sym typeface="Times New Roman"/>
              </a:rPr>
              <a:t>Significant Impact</a:t>
            </a:r>
            <a:r>
              <a:rPr lang="en-US" sz="9600" dirty="0">
                <a:latin typeface="Times New Roman"/>
                <a:ea typeface="Times New Roman"/>
                <a:cs typeface="Times New Roman"/>
                <a:sym typeface="Times New Roman"/>
              </a:rPr>
              <a:t>: Ensuring IoT network security is crucial for the safety and reliability of smart homes, healthcare, and industrial applications.</a:t>
            </a:r>
            <a:endParaRPr lang="en-US" sz="9600" b="1" dirty="0">
              <a:latin typeface="Times New Roman"/>
              <a:ea typeface="Times New Roman"/>
              <a:cs typeface="Times New Roman"/>
              <a:sym typeface="Times New Roman"/>
            </a:endParaRPr>
          </a:p>
          <a:p>
            <a:pPr marL="0" indent="0">
              <a:buNone/>
            </a:pPr>
            <a:r>
              <a:rPr lang="en-US" sz="2000" dirty="0">
                <a:latin typeface="Times New Roman"/>
                <a:cs typeface="Calibri"/>
              </a:rPr>
              <a:t>	</a:t>
            </a:r>
          </a:p>
        </p:txBody>
      </p:sp>
      <p:pic>
        <p:nvPicPr>
          <p:cNvPr id="6" name="Picture 2" descr="CEG Outlook">
            <a:extLst>
              <a:ext uri="{FF2B5EF4-FFF2-40B4-BE49-F238E27FC236}">
                <a16:creationId xmlns:a16="http://schemas.microsoft.com/office/drawing/2014/main" id="{C602333B-6130-AA95-A534-ABD0E77628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50"/>
          <a:stretch>
            <a:fillRect/>
          </a:stretch>
        </p:blipFill>
        <p:spPr bwMode="auto">
          <a:xfrm>
            <a:off x="10773002" y="348797"/>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download.jpg">
            <a:extLst>
              <a:ext uri="{FF2B5EF4-FFF2-40B4-BE49-F238E27FC236}">
                <a16:creationId xmlns:a16="http://schemas.microsoft.com/office/drawing/2014/main" id="{2C8068FB-B210-D6D9-C577-143E54F0407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1" y="348344"/>
            <a:ext cx="13890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92000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3D25-AB3C-BF11-300D-17A35F15576B}"/>
              </a:ext>
            </a:extLst>
          </p:cNvPr>
          <p:cNvSpPr>
            <a:spLocks noGrp="1"/>
          </p:cNvSpPr>
          <p:nvPr>
            <p:ph type="title"/>
          </p:nvPr>
        </p:nvSpPr>
        <p:spPr>
          <a:xfrm>
            <a:off x="1600200" y="365125"/>
            <a:ext cx="9739993" cy="1352777"/>
          </a:xfrm>
        </p:spPr>
        <p:txBody>
          <a:bodyPr>
            <a:normAutofit/>
          </a:bodyPr>
          <a:lstStyle/>
          <a:p>
            <a:r>
              <a:rPr lang="en-US" sz="4000">
                <a:latin typeface="Times New Roman"/>
                <a:cs typeface="Times New Roman"/>
              </a:rPr>
              <a:t> OBJECTIVE</a:t>
            </a:r>
            <a:endParaRPr lang="en-IN" sz="4000">
              <a:latin typeface="Times New Roman"/>
              <a:cs typeface="Times New Roman"/>
            </a:endParaRPr>
          </a:p>
        </p:txBody>
      </p:sp>
      <p:sp>
        <p:nvSpPr>
          <p:cNvPr id="3" name="Content Placeholder 2">
            <a:extLst>
              <a:ext uri="{FF2B5EF4-FFF2-40B4-BE49-F238E27FC236}">
                <a16:creationId xmlns:a16="http://schemas.microsoft.com/office/drawing/2014/main" id="{EEA596EE-3C2A-455E-4AA5-04E2E1A24EB4}"/>
              </a:ext>
            </a:extLst>
          </p:cNvPr>
          <p:cNvSpPr>
            <a:spLocks noGrp="1"/>
          </p:cNvSpPr>
          <p:nvPr>
            <p:ph idx="1"/>
          </p:nvPr>
        </p:nvSpPr>
        <p:spPr>
          <a:xfrm>
            <a:off x="838200" y="1939925"/>
            <a:ext cx="10515600" cy="4351338"/>
          </a:xfrm>
        </p:spPr>
        <p:txBody>
          <a:bodyPr vert="horz" lIns="91440" tIns="45720" rIns="91440" bIns="45720" rtlCol="0" anchor="t">
            <a:noAutofit/>
          </a:bodyPr>
          <a:lstStyle/>
          <a:p>
            <a:pPr marL="457200" lvl="0" indent="-355600" algn="just" rtl="0">
              <a:lnSpc>
                <a:spcPct val="115000"/>
              </a:lnSpc>
              <a:spcBef>
                <a:spcPts val="0"/>
              </a:spcBef>
              <a:spcAft>
                <a:spcPts val="0"/>
              </a:spcAft>
              <a:buSzPts val="2000"/>
              <a:buFont typeface="Times"/>
              <a:buChar char="•"/>
            </a:pPr>
            <a:r>
              <a:rPr lang="en-US" sz="2400" dirty="0">
                <a:latin typeface="Times"/>
                <a:ea typeface="Times"/>
                <a:cs typeface="Times"/>
                <a:sym typeface="Times"/>
              </a:rPr>
              <a:t>To develop and implement advanced security measures to protect IoT networks from dangerous cyber-attacks.</a:t>
            </a:r>
          </a:p>
          <a:p>
            <a:pPr marL="457200" lvl="0" indent="-355600" algn="just" rtl="0">
              <a:lnSpc>
                <a:spcPct val="115000"/>
              </a:lnSpc>
              <a:spcBef>
                <a:spcPts val="0"/>
              </a:spcBef>
              <a:spcAft>
                <a:spcPts val="0"/>
              </a:spcAft>
              <a:buSzPts val="2000"/>
              <a:buFont typeface="Times"/>
              <a:buChar char="•"/>
            </a:pPr>
            <a:r>
              <a:rPr lang="en-US" sz="2400" dirty="0">
                <a:latin typeface="Times"/>
                <a:ea typeface="Times"/>
                <a:cs typeface="Times"/>
                <a:sym typeface="Times"/>
              </a:rPr>
              <a:t>Utilize AI, especially deep learning techniques, initially using Graph Neural Networks (GNNs) and dynamic testing, for accurate attack detection and mitigation.</a:t>
            </a:r>
          </a:p>
          <a:p>
            <a:pPr marL="457200" lvl="0" indent="-355600" algn="just" rtl="0">
              <a:lnSpc>
                <a:spcPct val="115000"/>
              </a:lnSpc>
              <a:spcBef>
                <a:spcPts val="0"/>
              </a:spcBef>
              <a:spcAft>
                <a:spcPts val="0"/>
              </a:spcAft>
              <a:buSzPts val="2000"/>
              <a:buFont typeface="Times"/>
              <a:buChar char="•"/>
            </a:pPr>
            <a:r>
              <a:rPr lang="en-US" sz="2400" dirty="0">
                <a:latin typeface="Times"/>
                <a:ea typeface="Times"/>
                <a:cs typeface="Times"/>
                <a:sym typeface="Times"/>
              </a:rPr>
              <a:t>Compare the previously developed Double Deep Q-Network (DDQN) model with GNN in terms of accuracy, precision and other performance metrics.</a:t>
            </a:r>
          </a:p>
        </p:txBody>
      </p:sp>
      <p:pic>
        <p:nvPicPr>
          <p:cNvPr id="6" name="Picture 2" descr="CEG Outlook">
            <a:extLst>
              <a:ext uri="{FF2B5EF4-FFF2-40B4-BE49-F238E27FC236}">
                <a16:creationId xmlns:a16="http://schemas.microsoft.com/office/drawing/2014/main" id="{BE9E0901-FB0C-4B4C-E51B-23D0C2B61B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50"/>
          <a:stretch>
            <a:fillRect/>
          </a:stretch>
        </p:blipFill>
        <p:spPr bwMode="auto">
          <a:xfrm>
            <a:off x="10773002" y="360342"/>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download.jpg">
            <a:extLst>
              <a:ext uri="{FF2B5EF4-FFF2-40B4-BE49-F238E27FC236}">
                <a16:creationId xmlns:a16="http://schemas.microsoft.com/office/drawing/2014/main" id="{7941CEB3-F295-E42C-D89B-36BE117F2DE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1" y="359889"/>
            <a:ext cx="13890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88190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5DA50-26E1-CF67-6390-525592E5FA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07E232-C8FE-B9A0-D43B-4AA1EE04A0FF}"/>
              </a:ext>
            </a:extLst>
          </p:cNvPr>
          <p:cNvSpPr>
            <a:spLocks noGrp="1"/>
          </p:cNvSpPr>
          <p:nvPr>
            <p:ph type="title"/>
          </p:nvPr>
        </p:nvSpPr>
        <p:spPr>
          <a:xfrm>
            <a:off x="1600200" y="365125"/>
            <a:ext cx="9739993" cy="1352777"/>
          </a:xfrm>
        </p:spPr>
        <p:txBody>
          <a:bodyPr>
            <a:normAutofit/>
          </a:bodyPr>
          <a:lstStyle/>
          <a:p>
            <a:r>
              <a:rPr lang="en-US" sz="4000" dirty="0">
                <a:latin typeface="Times New Roman"/>
                <a:cs typeface="Times New Roman"/>
              </a:rPr>
              <a:t> PREVIOUS WORK</a:t>
            </a:r>
            <a:endParaRPr lang="en-IN" sz="4000" dirty="0">
              <a:latin typeface="Times New Roman"/>
              <a:cs typeface="Times New Roman"/>
            </a:endParaRPr>
          </a:p>
        </p:txBody>
      </p:sp>
      <p:sp>
        <p:nvSpPr>
          <p:cNvPr id="3" name="Content Placeholder 2">
            <a:extLst>
              <a:ext uri="{FF2B5EF4-FFF2-40B4-BE49-F238E27FC236}">
                <a16:creationId xmlns:a16="http://schemas.microsoft.com/office/drawing/2014/main" id="{453201B4-58CC-9287-9460-FDB289E9D1E8}"/>
              </a:ext>
            </a:extLst>
          </p:cNvPr>
          <p:cNvSpPr>
            <a:spLocks noGrp="1"/>
          </p:cNvSpPr>
          <p:nvPr>
            <p:ph idx="1"/>
          </p:nvPr>
        </p:nvSpPr>
        <p:spPr>
          <a:xfrm>
            <a:off x="651164" y="1717902"/>
            <a:ext cx="10515600" cy="4351338"/>
          </a:xfrm>
        </p:spPr>
        <p:txBody>
          <a:bodyPr vert="horz" lIns="91440" tIns="45720" rIns="91440" bIns="45720" rtlCol="0" anchor="t">
            <a:noAutofit/>
          </a:bodyPr>
          <a:lstStyle/>
          <a:p>
            <a:pPr marL="457200" lvl="0" indent="-355600" algn="just" rtl="0">
              <a:lnSpc>
                <a:spcPct val="115000"/>
              </a:lnSpc>
              <a:spcBef>
                <a:spcPts val="0"/>
              </a:spcBef>
              <a:spcAft>
                <a:spcPts val="0"/>
              </a:spcAft>
              <a:buSzPts val="2000"/>
              <a:buFont typeface="Times"/>
              <a:buChar char="•"/>
            </a:pPr>
            <a:r>
              <a:rPr lang="en-US" sz="2400" dirty="0">
                <a:latin typeface="Times"/>
                <a:ea typeface="Times"/>
                <a:cs typeface="Times"/>
                <a:sym typeface="Times"/>
              </a:rPr>
              <a:t>In Phase-1, Wireshark was employed to generate network traffic for five type of attack scenarios, DoS, DDoS, Botnet, Benign and Brute-force.</a:t>
            </a:r>
          </a:p>
          <a:p>
            <a:pPr marL="457200" lvl="0" indent="-355600" algn="just" rtl="0">
              <a:lnSpc>
                <a:spcPct val="115000"/>
              </a:lnSpc>
              <a:spcBef>
                <a:spcPts val="0"/>
              </a:spcBef>
              <a:spcAft>
                <a:spcPts val="0"/>
              </a:spcAft>
              <a:buSzPts val="2000"/>
              <a:buFont typeface="Times"/>
              <a:buChar char="•"/>
            </a:pPr>
            <a:r>
              <a:rPr lang="en-US" sz="2400" dirty="0">
                <a:latin typeface="Times"/>
                <a:ea typeface="Times"/>
                <a:cs typeface="Times"/>
                <a:sym typeface="Times"/>
              </a:rPr>
              <a:t>Network Mapper (Nmap) was used for scanning the network to identify live hosts and open ports within them. Attacks were performed on vulnerable ports.</a:t>
            </a:r>
          </a:p>
          <a:p>
            <a:pPr marL="457200" lvl="0" indent="-355600" algn="just" rtl="0">
              <a:lnSpc>
                <a:spcPct val="115000"/>
              </a:lnSpc>
              <a:spcBef>
                <a:spcPts val="0"/>
              </a:spcBef>
              <a:spcAft>
                <a:spcPts val="0"/>
              </a:spcAft>
              <a:buSzPts val="2000"/>
              <a:buFont typeface="Times"/>
              <a:buChar char="•"/>
            </a:pPr>
            <a:r>
              <a:rPr lang="en-US" sz="2400" dirty="0">
                <a:latin typeface="Times"/>
                <a:ea typeface="Times"/>
                <a:cs typeface="Times"/>
                <a:sym typeface="Times"/>
              </a:rPr>
              <a:t>Using </a:t>
            </a:r>
            <a:r>
              <a:rPr lang="en-US" sz="2400" dirty="0" err="1">
                <a:latin typeface="Times"/>
                <a:ea typeface="Times"/>
                <a:cs typeface="Times"/>
                <a:sym typeface="Times"/>
              </a:rPr>
              <a:t>CICFlowMeter</a:t>
            </a:r>
            <a:r>
              <a:rPr lang="en-US" sz="2400" dirty="0">
                <a:latin typeface="Times"/>
                <a:ea typeface="Times"/>
                <a:cs typeface="Times"/>
                <a:sym typeface="Times"/>
              </a:rPr>
              <a:t>, .</a:t>
            </a:r>
            <a:r>
              <a:rPr lang="en-US" sz="2400" dirty="0" err="1">
                <a:latin typeface="Times"/>
                <a:ea typeface="Times"/>
                <a:cs typeface="Times"/>
                <a:sym typeface="Times"/>
              </a:rPr>
              <a:t>pcap</a:t>
            </a:r>
            <a:r>
              <a:rPr lang="en-US" sz="2400" dirty="0">
                <a:latin typeface="Times"/>
                <a:ea typeface="Times"/>
                <a:cs typeface="Times"/>
                <a:sym typeface="Times"/>
              </a:rPr>
              <a:t> files were converted to .csv files containing labelled datasets. This was integrated with existing CICIDS2018 dataset.</a:t>
            </a:r>
          </a:p>
          <a:p>
            <a:pPr marL="457200" lvl="0" indent="-355600" algn="just" rtl="0">
              <a:lnSpc>
                <a:spcPct val="115000"/>
              </a:lnSpc>
              <a:spcBef>
                <a:spcPts val="0"/>
              </a:spcBef>
              <a:spcAft>
                <a:spcPts val="0"/>
              </a:spcAft>
              <a:buSzPts val="2000"/>
              <a:buFont typeface="Times"/>
              <a:buChar char="•"/>
            </a:pPr>
            <a:r>
              <a:rPr lang="en-US" sz="2400" dirty="0">
                <a:latin typeface="Times"/>
                <a:ea typeface="Times"/>
                <a:cs typeface="Times"/>
                <a:sym typeface="Times"/>
              </a:rPr>
              <a:t>Data was pre-processed and a DDQN (Double Deep Q Network) model was developed and trained.</a:t>
            </a:r>
          </a:p>
          <a:p>
            <a:pPr marL="457200" lvl="0" indent="-355600" algn="just" rtl="0">
              <a:lnSpc>
                <a:spcPct val="115000"/>
              </a:lnSpc>
              <a:spcBef>
                <a:spcPts val="0"/>
              </a:spcBef>
              <a:spcAft>
                <a:spcPts val="0"/>
              </a:spcAft>
              <a:buSzPts val="2000"/>
              <a:buFont typeface="Times"/>
              <a:buChar char="•"/>
            </a:pPr>
            <a:r>
              <a:rPr lang="en-US" sz="2400" dirty="0">
                <a:latin typeface="Times"/>
                <a:ea typeface="Times"/>
                <a:cs typeface="Times"/>
                <a:sym typeface="Times"/>
              </a:rPr>
              <a:t>Unseen data was tested and the results showed a testing accuracy of 96.7% for the trained DDQN model.</a:t>
            </a:r>
          </a:p>
        </p:txBody>
      </p:sp>
      <p:pic>
        <p:nvPicPr>
          <p:cNvPr id="6" name="Picture 2" descr="CEG Outlook">
            <a:extLst>
              <a:ext uri="{FF2B5EF4-FFF2-40B4-BE49-F238E27FC236}">
                <a16:creationId xmlns:a16="http://schemas.microsoft.com/office/drawing/2014/main" id="{08FD100E-FB32-C699-7DFB-1BF07A9E58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50"/>
          <a:stretch>
            <a:fillRect/>
          </a:stretch>
        </p:blipFill>
        <p:spPr bwMode="auto">
          <a:xfrm>
            <a:off x="10773002" y="360342"/>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6" descr="download.jpg">
            <a:extLst>
              <a:ext uri="{FF2B5EF4-FFF2-40B4-BE49-F238E27FC236}">
                <a16:creationId xmlns:a16="http://schemas.microsoft.com/office/drawing/2014/main" id="{CE9AB635-D37F-7F75-1833-72B9C3C54F9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1" y="359889"/>
            <a:ext cx="13890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32225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B80A7-E6F2-CD8F-41EB-56018E0A61E1}"/>
              </a:ext>
            </a:extLst>
          </p:cNvPr>
          <p:cNvSpPr>
            <a:spLocks noGrp="1"/>
          </p:cNvSpPr>
          <p:nvPr>
            <p:ph type="title"/>
          </p:nvPr>
        </p:nvSpPr>
        <p:spPr>
          <a:xfrm>
            <a:off x="2008414" y="365125"/>
            <a:ext cx="9331779" cy="1352777"/>
          </a:xfrm>
        </p:spPr>
        <p:txBody>
          <a:bodyPr>
            <a:normAutofit/>
          </a:bodyPr>
          <a:lstStyle/>
          <a:p>
            <a:r>
              <a:rPr lang="en-US" sz="4000" dirty="0">
                <a:latin typeface="Times New Roman"/>
                <a:cs typeface="Times New Roman"/>
              </a:rPr>
              <a:t>LITERATURE SURVEY</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59853296"/>
              </p:ext>
            </p:extLst>
          </p:nvPr>
        </p:nvGraphicFramePr>
        <p:xfrm>
          <a:off x="272142" y="1632856"/>
          <a:ext cx="11736597" cy="4641483"/>
        </p:xfrm>
        <a:graphic>
          <a:graphicData uri="http://schemas.openxmlformats.org/drawingml/2006/table">
            <a:tbl>
              <a:tblPr firstRow="1" bandRow="1">
                <a:tableStyleId>{5C22544A-7EE6-4342-B048-85BDC9FD1C3A}</a:tableStyleId>
              </a:tblPr>
              <a:tblGrid>
                <a:gridCol w="801621">
                  <a:extLst>
                    <a:ext uri="{9D8B030D-6E8A-4147-A177-3AD203B41FA5}">
                      <a16:colId xmlns:a16="http://schemas.microsoft.com/office/drawing/2014/main" val="749943175"/>
                    </a:ext>
                  </a:extLst>
                </a:gridCol>
                <a:gridCol w="2248171">
                  <a:extLst>
                    <a:ext uri="{9D8B030D-6E8A-4147-A177-3AD203B41FA5}">
                      <a16:colId xmlns:a16="http://schemas.microsoft.com/office/drawing/2014/main" val="2908332066"/>
                    </a:ext>
                  </a:extLst>
                </a:gridCol>
                <a:gridCol w="3727048">
                  <a:extLst>
                    <a:ext uri="{9D8B030D-6E8A-4147-A177-3AD203B41FA5}">
                      <a16:colId xmlns:a16="http://schemas.microsoft.com/office/drawing/2014/main" val="1114371048"/>
                    </a:ext>
                  </a:extLst>
                </a:gridCol>
                <a:gridCol w="1898248">
                  <a:extLst>
                    <a:ext uri="{9D8B030D-6E8A-4147-A177-3AD203B41FA5}">
                      <a16:colId xmlns:a16="http://schemas.microsoft.com/office/drawing/2014/main" val="2367760707"/>
                    </a:ext>
                  </a:extLst>
                </a:gridCol>
                <a:gridCol w="3061509">
                  <a:extLst>
                    <a:ext uri="{9D8B030D-6E8A-4147-A177-3AD203B41FA5}">
                      <a16:colId xmlns:a16="http://schemas.microsoft.com/office/drawing/2014/main" val="3945506623"/>
                    </a:ext>
                  </a:extLst>
                </a:gridCol>
              </a:tblGrid>
              <a:tr h="527360">
                <a:tc>
                  <a:txBody>
                    <a:bodyPr/>
                    <a:lstStyle/>
                    <a:p>
                      <a:r>
                        <a:rPr lang="en-IN" sz="1400" dirty="0">
                          <a:latin typeface="Times New Roman" panose="02020603050405020304" pitchFamily="18" charset="0"/>
                          <a:cs typeface="Times New Roman" panose="02020603050405020304" pitchFamily="18" charset="0"/>
                        </a:rPr>
                        <a:t>S.NO</a:t>
                      </a:r>
                    </a:p>
                  </a:txBody>
                  <a:tcPr/>
                </a:tc>
                <a:tc>
                  <a:txBody>
                    <a:bodyPr/>
                    <a:lstStyle/>
                    <a:p>
                      <a:r>
                        <a:rPr lang="en-IN" sz="1400" dirty="0">
                          <a:latin typeface="Times New Roman" panose="02020603050405020304" pitchFamily="18" charset="0"/>
                          <a:cs typeface="Times New Roman" panose="02020603050405020304" pitchFamily="18" charset="0"/>
                        </a:rPr>
                        <a:t>TITLE/AUTHOR</a:t>
                      </a:r>
                    </a:p>
                  </a:txBody>
                  <a:tcPr/>
                </a:tc>
                <a:tc>
                  <a:txBody>
                    <a:bodyPr/>
                    <a:lstStyle/>
                    <a:p>
                      <a:r>
                        <a:rPr lang="en-IN" sz="1600" dirty="0">
                          <a:latin typeface="Times New Roman" panose="02020603050405020304" pitchFamily="18" charset="0"/>
                          <a:cs typeface="Times New Roman" panose="02020603050405020304" pitchFamily="18" charset="0"/>
                        </a:rPr>
                        <a:t>OBJECTIVE AND MOTIVATION</a:t>
                      </a:r>
                    </a:p>
                  </a:txBody>
                  <a:tcPr/>
                </a:tc>
                <a:tc>
                  <a:txBody>
                    <a:bodyPr/>
                    <a:lstStyle/>
                    <a:p>
                      <a:r>
                        <a:rPr lang="en-IN" sz="1400" dirty="0">
                          <a:latin typeface="Times New Roman" panose="02020603050405020304" pitchFamily="18" charset="0"/>
                          <a:cs typeface="Times New Roman" panose="02020603050405020304" pitchFamily="18" charset="0"/>
                        </a:rPr>
                        <a:t>METHODOLOGY</a:t>
                      </a:r>
                    </a:p>
                  </a:txBody>
                  <a:tcPr/>
                </a:tc>
                <a:tc>
                  <a:txBody>
                    <a:bodyPr/>
                    <a:lstStyle/>
                    <a:p>
                      <a:r>
                        <a:rPr lang="en-IN" sz="14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560745651"/>
                  </a:ext>
                </a:extLst>
              </a:tr>
              <a:tr h="4114123">
                <a:tc>
                  <a:txBody>
                    <a:bodyPr/>
                    <a:lstStyle/>
                    <a:p>
                      <a:r>
                        <a:rPr lang="en-IN" sz="1600" dirty="0">
                          <a:latin typeface="Times New Roman" panose="02020603050405020304" pitchFamily="18" charset="0"/>
                          <a:cs typeface="Times New Roman" panose="02020603050405020304" pitchFamily="18" charset="0"/>
                        </a:rPr>
                        <a:t>1.</a:t>
                      </a:r>
                    </a:p>
                  </a:txBody>
                  <a:tcPr/>
                </a:tc>
                <a:tc>
                  <a:txBody>
                    <a:bodyPr/>
                    <a:lstStyle/>
                    <a:p>
                      <a:r>
                        <a:rPr lang="en-US" sz="1600" b="1" dirty="0">
                          <a:latin typeface="Times New Roman" panose="02020603050405020304" pitchFamily="18" charset="0"/>
                          <a:cs typeface="Times New Roman" panose="02020603050405020304" pitchFamily="18" charset="0"/>
                        </a:rPr>
                        <a:t>Dynamic Attack Detection in IoT Networks: An</a:t>
                      </a:r>
                    </a:p>
                    <a:p>
                      <a:r>
                        <a:rPr lang="en-US" sz="1600" b="1" dirty="0">
                          <a:latin typeface="Times New Roman" panose="02020603050405020304" pitchFamily="18" charset="0"/>
                          <a:cs typeface="Times New Roman" panose="02020603050405020304" pitchFamily="18" charset="0"/>
                        </a:rPr>
                        <a:t>Ensemble Learning Approach With Q-Learning</a:t>
                      </a:r>
                    </a:p>
                    <a:p>
                      <a:r>
                        <a:rPr lang="en-US" sz="1600" b="1" dirty="0">
                          <a:latin typeface="Times New Roman" panose="02020603050405020304" pitchFamily="18" charset="0"/>
                          <a:cs typeface="Times New Roman" panose="02020603050405020304" pitchFamily="18" charset="0"/>
                        </a:rPr>
                        <a:t>and Explainable AI</a:t>
                      </a:r>
                    </a:p>
                    <a:p>
                      <a:endParaRPr lang="en-IN" sz="1600" b="1" dirty="0">
                        <a:latin typeface="Times New Roman" panose="02020603050405020304" pitchFamily="18" charset="0"/>
                        <a:cs typeface="Times New Roman" panose="02020603050405020304" pitchFamily="18" charset="0"/>
                      </a:endParaRPr>
                    </a:p>
                  </a:txBody>
                  <a:tcPr/>
                </a:tc>
                <a:tc>
                  <a:txBody>
                    <a:bodyPr/>
                    <a:lstStyle/>
                    <a:p>
                      <a:r>
                        <a:rPr lang="en-US" sz="1600" b="1" i="0" kern="1200" dirty="0">
                          <a:solidFill>
                            <a:schemeClr val="dk1"/>
                          </a:solidFill>
                          <a:effectLst/>
                          <a:latin typeface="Times New Roman" pitchFamily="18" charset="0"/>
                          <a:ea typeface="+mn-ea"/>
                          <a:cs typeface="Times New Roman" pitchFamily="18" charset="0"/>
                        </a:rPr>
                        <a:t>Objective</a:t>
                      </a:r>
                      <a:r>
                        <a:rPr lang="en-US" sz="1600" b="0" i="0" kern="1200" dirty="0">
                          <a:solidFill>
                            <a:schemeClr val="dk1"/>
                          </a:solidFill>
                          <a:effectLst/>
                          <a:latin typeface="Times New Roman" pitchFamily="18" charset="0"/>
                          <a:ea typeface="+mn-ea"/>
                          <a:cs typeface="Times New Roman" pitchFamily="18" charset="0"/>
                        </a:rPr>
                        <a:t>: </a:t>
                      </a:r>
                      <a:r>
                        <a:rPr lang="en-US" sz="1600" b="0" i="0" kern="1200" baseline="0" dirty="0">
                          <a:solidFill>
                            <a:schemeClr val="dk1"/>
                          </a:solidFill>
                          <a:effectLst/>
                          <a:latin typeface="Times New Roman" pitchFamily="18" charset="0"/>
                          <a:ea typeface="+mn-ea"/>
                          <a:cs typeface="Times New Roman" pitchFamily="18" charset="0"/>
                        </a:rPr>
                        <a:t>T</a:t>
                      </a:r>
                      <a:r>
                        <a:rPr lang="en-US" sz="1600" kern="1200" baseline="0" dirty="0">
                          <a:solidFill>
                            <a:schemeClr val="dk1"/>
                          </a:solidFill>
                          <a:latin typeface="Times New Roman" pitchFamily="18" charset="0"/>
                          <a:ea typeface="+mn-ea"/>
                          <a:cs typeface="Times New Roman" pitchFamily="18" charset="0"/>
                        </a:rPr>
                        <a:t>his paper focuses on providing the list of popular databases available belonging to the neurological signals, brain signal/image collections, and so on. The count and the kinds of attacks across the networked computer systems have hiked the significance of computer network security. </a:t>
                      </a:r>
                    </a:p>
                    <a:p>
                      <a:r>
                        <a:rPr lang="en-US" sz="1600" b="1" kern="1200" baseline="0" dirty="0">
                          <a:solidFill>
                            <a:schemeClr val="dk1"/>
                          </a:solidFill>
                          <a:latin typeface="Times New Roman" pitchFamily="18" charset="0"/>
                          <a:ea typeface="+mn-ea"/>
                          <a:cs typeface="Times New Roman" pitchFamily="18" charset="0"/>
                        </a:rPr>
                        <a:t>Motive: </a:t>
                      </a:r>
                      <a:r>
                        <a:rPr lang="en-US" sz="1600" kern="1200" baseline="0" dirty="0">
                          <a:solidFill>
                            <a:schemeClr val="dk1"/>
                          </a:solidFill>
                          <a:latin typeface="Times New Roman" pitchFamily="18" charset="0"/>
                          <a:ea typeface="+mn-ea"/>
                          <a:cs typeface="Times New Roman" pitchFamily="18" charset="0"/>
                        </a:rPr>
                        <a:t>The motive is to analyze different sweep techniques such as Ping sweep, TCP sweep, and Null sweep on the popular databases about the brain signal/image collections. The results of the Ping sweep support status, TCP sweep times, and Null scan times on different servers are discussed finally.</a:t>
                      </a:r>
                      <a:endParaRPr lang="en-US" sz="1600" b="0" i="0" kern="1200" dirty="0">
                        <a:solidFill>
                          <a:schemeClr val="dk1"/>
                        </a:solidFill>
                        <a:effectLst/>
                        <a:latin typeface="Times New Roman" pitchFamily="18" charset="0"/>
                        <a:ea typeface="+mn-ea"/>
                        <a:cs typeface="Times New Roman" pitchFamily="18" charset="0"/>
                      </a:endParaRPr>
                    </a:p>
                  </a:txBody>
                  <a:tcPr/>
                </a:tc>
                <a:tc>
                  <a:txBody>
                    <a:bodyPr/>
                    <a:lstStyle/>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Firstly, the survey on neurological brain signal/image</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database servers around the world was done.</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Afterward,</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the techniques on scanning techniques such as Ping sweep,</a:t>
                      </a:r>
                    </a:p>
                    <a:p>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TCP sweep and Null scan to those servers are detailed.</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US" sz="1600" kern="1200" baseline="0" dirty="0">
                          <a:solidFill>
                            <a:schemeClr val="dk1"/>
                          </a:solidFill>
                          <a:latin typeface="Times New Roman" pitchFamily="18" charset="0"/>
                          <a:ea typeface="+mn-ea"/>
                          <a:cs typeface="Times New Roman" pitchFamily="18" charset="0"/>
                        </a:rPr>
                        <a:t>Conventionally,</a:t>
                      </a:r>
                    </a:p>
                    <a:p>
                      <a:r>
                        <a:rPr lang="en-US" sz="1600" kern="1200" baseline="0" dirty="0">
                          <a:solidFill>
                            <a:schemeClr val="dk1"/>
                          </a:solidFill>
                          <a:latin typeface="Times New Roman" pitchFamily="18" charset="0"/>
                          <a:ea typeface="+mn-ea"/>
                          <a:cs typeface="Times New Roman" pitchFamily="18" charset="0"/>
                        </a:rPr>
                        <a:t>antivirus software can identify only the known valid signatures;</a:t>
                      </a:r>
                    </a:p>
                    <a:p>
                      <a:r>
                        <a:rPr lang="en-US" sz="1600" kern="1200" baseline="0" dirty="0">
                          <a:solidFill>
                            <a:schemeClr val="dk1"/>
                          </a:solidFill>
                          <a:latin typeface="Times New Roman" pitchFamily="18" charset="0"/>
                          <a:ea typeface="+mn-ea"/>
                          <a:cs typeface="Times New Roman" pitchFamily="18" charset="0"/>
                        </a:rPr>
                        <a:t>the unknown signatures can enter and crack the system</a:t>
                      </a:r>
                    </a:p>
                    <a:p>
                      <a:r>
                        <a:rPr lang="en-US" sz="1600" kern="1200" baseline="0" dirty="0">
                          <a:solidFill>
                            <a:schemeClr val="dk1"/>
                          </a:solidFill>
                          <a:latin typeface="Times New Roman" pitchFamily="18" charset="0"/>
                          <a:ea typeface="+mn-ea"/>
                          <a:cs typeface="Times New Roman" pitchFamily="18" charset="0"/>
                        </a:rPr>
                        <a:t>or network easily. At present, networks face numerous</a:t>
                      </a:r>
                    </a:p>
                    <a:p>
                      <a:r>
                        <a:rPr lang="en-US" sz="1600" kern="1200" baseline="0" dirty="0">
                          <a:solidFill>
                            <a:schemeClr val="dk1"/>
                          </a:solidFill>
                          <a:latin typeface="Times New Roman" pitchFamily="18" charset="0"/>
                          <a:ea typeface="+mn-ea"/>
                          <a:cs typeface="Times New Roman" pitchFamily="18" charset="0"/>
                        </a:rPr>
                        <a:t>threats rather than virus such as malware, denial of service,</a:t>
                      </a:r>
                    </a:p>
                    <a:p>
                      <a:r>
                        <a:rPr lang="en-US" sz="1600" kern="1200" baseline="0" dirty="0">
                          <a:solidFill>
                            <a:schemeClr val="dk1"/>
                          </a:solidFill>
                          <a:latin typeface="Times New Roman" pitchFamily="18" charset="0"/>
                          <a:ea typeface="+mn-ea"/>
                          <a:cs typeface="Times New Roman" pitchFamily="18" charset="0"/>
                        </a:rPr>
                        <a:t>information theft, and port scanning covert channels, etc.</a:t>
                      </a:r>
                    </a:p>
                    <a:p>
                      <a:r>
                        <a:rPr lang="en-US" sz="1600" kern="1200" baseline="0" dirty="0">
                          <a:solidFill>
                            <a:schemeClr val="dk1"/>
                          </a:solidFill>
                          <a:latin typeface="Times New Roman" pitchFamily="18" charset="0"/>
                          <a:ea typeface="+mn-ea"/>
                          <a:cs typeface="Times New Roman" pitchFamily="18" charset="0"/>
                        </a:rPr>
                        <a:t>Also, the attackers may target the antivirus software running</a:t>
                      </a:r>
                    </a:p>
                    <a:p>
                      <a:r>
                        <a:rPr lang="en-US" sz="1600" kern="1200" baseline="0" dirty="0">
                          <a:solidFill>
                            <a:schemeClr val="dk1"/>
                          </a:solidFill>
                          <a:latin typeface="Times New Roman" pitchFamily="18" charset="0"/>
                          <a:ea typeface="+mn-ea"/>
                          <a:cs typeface="Times New Roman" pitchFamily="18" charset="0"/>
                        </a:rPr>
                        <a:t>on a system too without the attention of the users yielding</a:t>
                      </a:r>
                    </a:p>
                    <a:p>
                      <a:r>
                        <a:rPr lang="en-US" sz="1600" kern="1200" baseline="0" dirty="0">
                          <a:solidFill>
                            <a:schemeClr val="dk1"/>
                          </a:solidFill>
                          <a:latin typeface="Times New Roman" pitchFamily="18" charset="0"/>
                          <a:ea typeface="+mn-ea"/>
                          <a:cs typeface="Times New Roman" pitchFamily="18" charset="0"/>
                        </a:rPr>
                        <a:t>too many vulnerabilities.</a:t>
                      </a:r>
                      <a:endParaRPr lang="en-IN" sz="1600" dirty="0">
                        <a:latin typeface="Times New Roman" pitchFamily="18" charset="0"/>
                        <a:cs typeface="Times New Roman" pitchFamily="18" charset="0"/>
                      </a:endParaRPr>
                    </a:p>
                  </a:txBody>
                  <a:tcPr/>
                </a:tc>
                <a:extLst>
                  <a:ext uri="{0D108BD9-81ED-4DB2-BD59-A6C34878D82A}">
                    <a16:rowId xmlns:a16="http://schemas.microsoft.com/office/drawing/2014/main" val="984038992"/>
                  </a:ext>
                </a:extLst>
              </a:tr>
            </a:tbl>
          </a:graphicData>
        </a:graphic>
      </p:graphicFrame>
      <p:pic>
        <p:nvPicPr>
          <p:cNvPr id="5" name="Picture 2" descr="CEG Outlook">
            <a:extLst>
              <a:ext uri="{FF2B5EF4-FFF2-40B4-BE49-F238E27FC236}">
                <a16:creationId xmlns:a16="http://schemas.microsoft.com/office/drawing/2014/main" id="{040B1303-EA77-FFFA-C684-72DE53716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50"/>
          <a:stretch>
            <a:fillRect/>
          </a:stretch>
        </p:blipFill>
        <p:spPr bwMode="auto">
          <a:xfrm>
            <a:off x="10773002" y="360342"/>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download.jpg">
            <a:extLst>
              <a:ext uri="{FF2B5EF4-FFF2-40B4-BE49-F238E27FC236}">
                <a16:creationId xmlns:a16="http://schemas.microsoft.com/office/drawing/2014/main" id="{A8B6A003-F7DB-EBF0-8BB4-E126962F76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1" y="348344"/>
            <a:ext cx="13890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9845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631148633"/>
              </p:ext>
            </p:extLst>
          </p:nvPr>
        </p:nvGraphicFramePr>
        <p:xfrm>
          <a:off x="272142" y="1632856"/>
          <a:ext cx="11736597" cy="4786588"/>
        </p:xfrm>
        <a:graphic>
          <a:graphicData uri="http://schemas.openxmlformats.org/drawingml/2006/table">
            <a:tbl>
              <a:tblPr firstRow="1" bandRow="1">
                <a:tableStyleId>{5C22544A-7EE6-4342-B048-85BDC9FD1C3A}</a:tableStyleId>
              </a:tblPr>
              <a:tblGrid>
                <a:gridCol w="801621">
                  <a:extLst>
                    <a:ext uri="{9D8B030D-6E8A-4147-A177-3AD203B41FA5}">
                      <a16:colId xmlns:a16="http://schemas.microsoft.com/office/drawing/2014/main" val="749943175"/>
                    </a:ext>
                  </a:extLst>
                </a:gridCol>
                <a:gridCol w="2692577">
                  <a:extLst>
                    <a:ext uri="{9D8B030D-6E8A-4147-A177-3AD203B41FA5}">
                      <a16:colId xmlns:a16="http://schemas.microsoft.com/office/drawing/2014/main" val="2908332066"/>
                    </a:ext>
                  </a:extLst>
                </a:gridCol>
                <a:gridCol w="3132171">
                  <a:extLst>
                    <a:ext uri="{9D8B030D-6E8A-4147-A177-3AD203B41FA5}">
                      <a16:colId xmlns:a16="http://schemas.microsoft.com/office/drawing/2014/main" val="1114371048"/>
                    </a:ext>
                  </a:extLst>
                </a:gridCol>
                <a:gridCol w="3171464">
                  <a:extLst>
                    <a:ext uri="{9D8B030D-6E8A-4147-A177-3AD203B41FA5}">
                      <a16:colId xmlns:a16="http://schemas.microsoft.com/office/drawing/2014/main" val="2367760707"/>
                    </a:ext>
                  </a:extLst>
                </a:gridCol>
                <a:gridCol w="1938764">
                  <a:extLst>
                    <a:ext uri="{9D8B030D-6E8A-4147-A177-3AD203B41FA5}">
                      <a16:colId xmlns:a16="http://schemas.microsoft.com/office/drawing/2014/main" val="3945506623"/>
                    </a:ext>
                  </a:extLst>
                </a:gridCol>
              </a:tblGrid>
              <a:tr h="590102">
                <a:tc>
                  <a:txBody>
                    <a:bodyPr/>
                    <a:lstStyle/>
                    <a:p>
                      <a:r>
                        <a:rPr lang="en-IN" sz="1400" dirty="0">
                          <a:latin typeface="Times New Roman" panose="02020603050405020304" pitchFamily="18" charset="0"/>
                          <a:cs typeface="Times New Roman" panose="02020603050405020304" pitchFamily="18" charset="0"/>
                        </a:rPr>
                        <a:t>S.NO</a:t>
                      </a:r>
                    </a:p>
                  </a:txBody>
                  <a:tcPr/>
                </a:tc>
                <a:tc>
                  <a:txBody>
                    <a:bodyPr/>
                    <a:lstStyle/>
                    <a:p>
                      <a:r>
                        <a:rPr lang="en-IN" sz="1400" dirty="0">
                          <a:latin typeface="Times New Roman" panose="02020603050405020304" pitchFamily="18" charset="0"/>
                          <a:cs typeface="Times New Roman" panose="02020603050405020304" pitchFamily="18" charset="0"/>
                        </a:rPr>
                        <a:t>TITLE/AUTHOR</a:t>
                      </a:r>
                    </a:p>
                  </a:txBody>
                  <a:tcPr/>
                </a:tc>
                <a:tc>
                  <a:txBody>
                    <a:bodyPr/>
                    <a:lstStyle/>
                    <a:p>
                      <a:r>
                        <a:rPr lang="en-IN" sz="1400" dirty="0">
                          <a:latin typeface="Times New Roman" panose="02020603050405020304" pitchFamily="18" charset="0"/>
                          <a:cs typeface="Times New Roman" panose="02020603050405020304" pitchFamily="18" charset="0"/>
                        </a:rPr>
                        <a:t>OBJECTIVE AND MOTIVATION</a:t>
                      </a:r>
                    </a:p>
                  </a:txBody>
                  <a:tcPr/>
                </a:tc>
                <a:tc>
                  <a:txBody>
                    <a:bodyPr/>
                    <a:lstStyle/>
                    <a:p>
                      <a:r>
                        <a:rPr lang="en-IN" sz="1400" dirty="0">
                          <a:latin typeface="Times New Roman" panose="02020603050405020304" pitchFamily="18" charset="0"/>
                          <a:cs typeface="Times New Roman" panose="02020603050405020304" pitchFamily="18" charset="0"/>
                        </a:rPr>
                        <a:t>METHODOLOGY</a:t>
                      </a:r>
                    </a:p>
                  </a:txBody>
                  <a:tcPr/>
                </a:tc>
                <a:tc>
                  <a:txBody>
                    <a:bodyPr/>
                    <a:lstStyle/>
                    <a:p>
                      <a:r>
                        <a:rPr lang="en-IN" sz="14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560745651"/>
                  </a:ext>
                </a:extLst>
              </a:tr>
              <a:tr h="4187569">
                <a:tc>
                  <a:txBody>
                    <a:bodyPr/>
                    <a:lstStyle/>
                    <a:p>
                      <a:pPr lvl="0" algn="l" rtl="0">
                        <a:buNone/>
                      </a:pPr>
                      <a:r>
                        <a:rPr lang="en-US" sz="1600" dirty="0">
                          <a:effectLst/>
                          <a:latin typeface="Times New Roman" pitchFamily="18" charset="0"/>
                          <a:cs typeface="Times New Roman" pitchFamily="18" charset="0"/>
                        </a:rPr>
                        <a:t>2.</a:t>
                      </a:r>
                      <a:endParaRPr lang="en-IN" sz="1600" b="0" i="0" dirty="0">
                        <a:solidFill>
                          <a:srgbClr val="000000"/>
                        </a:solidFill>
                        <a:effectLst/>
                        <a:latin typeface="Times New Roman" pitchFamily="18" charset="0"/>
                        <a:cs typeface="Times New Roman" pitchFamily="18" charset="0"/>
                      </a:endParaRPr>
                    </a:p>
                  </a:txBody>
                  <a:tcPr marL="51206" marR="51206" marT="25603" marB="25603"/>
                </a:tc>
                <a:tc>
                  <a:txBody>
                    <a:bodyPr/>
                    <a:lstStyle/>
                    <a:p>
                      <a:pPr lvl="0" algn="l" rtl="0">
                        <a:buNone/>
                      </a:pPr>
                      <a:r>
                        <a:rPr lang="en-US" sz="1600" b="1" dirty="0">
                          <a:effectLst/>
                          <a:latin typeface="Times New Roman" pitchFamily="18" charset="0"/>
                          <a:cs typeface="Times New Roman" pitchFamily="18" charset="0"/>
                        </a:rPr>
                        <a:t>Vulnerability Assessment for Machine Learning</a:t>
                      </a:r>
                    </a:p>
                    <a:p>
                      <a:pPr lvl="0" algn="l" rtl="0">
                        <a:buNone/>
                      </a:pPr>
                      <a:r>
                        <a:rPr lang="en-US" sz="1600" b="1" dirty="0">
                          <a:effectLst/>
                          <a:latin typeface="Times New Roman" pitchFamily="18" charset="0"/>
                          <a:cs typeface="Times New Roman" pitchFamily="18" charset="0"/>
                        </a:rPr>
                        <a:t>Based Network Anomaly Detection System</a:t>
                      </a:r>
                      <a:endParaRPr lang="en-US" sz="1600" b="1" i="0" dirty="0">
                        <a:solidFill>
                          <a:srgbClr val="000000"/>
                        </a:solidFill>
                        <a:effectLst/>
                        <a:latin typeface="Times New Roman" pitchFamily="18" charset="0"/>
                        <a:cs typeface="Times New Roman" pitchFamily="18" charset="0"/>
                      </a:endParaRPr>
                    </a:p>
                  </a:txBody>
                  <a:tcPr marL="51205" marR="51205" marT="25603" marB="25603"/>
                </a:tc>
                <a:tc>
                  <a:txBody>
                    <a:bodyPr/>
                    <a:lstStyle/>
                    <a:p>
                      <a:pPr lvl="0" algn="l" rtl="0">
                        <a:buNone/>
                      </a:pPr>
                      <a:r>
                        <a:rPr lang="en-US" sz="1600" b="1" dirty="0">
                          <a:effectLst/>
                          <a:latin typeface="Times New Roman" pitchFamily="18" charset="0"/>
                          <a:cs typeface="Times New Roman" pitchFamily="18" charset="0"/>
                        </a:rPr>
                        <a:t>Objective: </a:t>
                      </a:r>
                      <a:r>
                        <a:rPr lang="en-US" sz="1600" dirty="0">
                          <a:effectLst/>
                          <a:latin typeface="Times New Roman" pitchFamily="18" charset="0"/>
                          <a:cs typeface="Times New Roman" pitchFamily="18" charset="0"/>
                        </a:rPr>
                        <a:t>In this paper, the assessment of the vulnerability of network</a:t>
                      </a:r>
                      <a:r>
                        <a:rPr lang="en-US" sz="1600" baseline="0" dirty="0">
                          <a:effectLst/>
                          <a:latin typeface="Times New Roman" pitchFamily="18" charset="0"/>
                          <a:cs typeface="Times New Roman" pitchFamily="18" charset="0"/>
                        </a:rPr>
                        <a:t> </a:t>
                      </a:r>
                      <a:r>
                        <a:rPr lang="en-US" sz="1600" dirty="0">
                          <a:effectLst/>
                          <a:latin typeface="Times New Roman" pitchFamily="18" charset="0"/>
                          <a:cs typeface="Times New Roman" pitchFamily="18" charset="0"/>
                        </a:rPr>
                        <a:t>anomaly detection systems that use machine learning methods is carried out. </a:t>
                      </a:r>
                    </a:p>
                    <a:p>
                      <a:pPr lvl="0" algn="l" rtl="0">
                        <a:buNone/>
                      </a:pPr>
                      <a:r>
                        <a:rPr lang="en-US" sz="1600" b="1" dirty="0">
                          <a:effectLst/>
                          <a:latin typeface="Times New Roman" pitchFamily="18" charset="0"/>
                          <a:cs typeface="Times New Roman" pitchFamily="18" charset="0"/>
                        </a:rPr>
                        <a:t>Motive: </a:t>
                      </a:r>
                      <a:r>
                        <a:rPr lang="en-US" sz="1600" dirty="0">
                          <a:effectLst/>
                          <a:latin typeface="Times New Roman" pitchFamily="18" charset="0"/>
                          <a:cs typeface="Times New Roman" pitchFamily="18" charset="0"/>
                        </a:rPr>
                        <a:t>Although the performance of these network anomaly detection</a:t>
                      </a:r>
                    </a:p>
                    <a:p>
                      <a:pPr lvl="0" algn="l" rtl="0">
                        <a:buNone/>
                      </a:pPr>
                      <a:r>
                        <a:rPr lang="en-US" sz="1600" dirty="0">
                          <a:effectLst/>
                          <a:latin typeface="Times New Roman" pitchFamily="18" charset="0"/>
                          <a:cs typeface="Times New Roman" pitchFamily="18" charset="0"/>
                        </a:rPr>
                        <a:t>systems is high in comparison to that of existing methods</a:t>
                      </a:r>
                      <a:r>
                        <a:rPr lang="en-US" sz="1600" baseline="0" dirty="0">
                          <a:effectLst/>
                          <a:latin typeface="Times New Roman" pitchFamily="18" charset="0"/>
                          <a:cs typeface="Times New Roman" pitchFamily="18" charset="0"/>
                        </a:rPr>
                        <a:t> </a:t>
                      </a:r>
                      <a:r>
                        <a:rPr lang="en-US" sz="1600" dirty="0">
                          <a:effectLst/>
                          <a:latin typeface="Times New Roman" pitchFamily="18" charset="0"/>
                          <a:cs typeface="Times New Roman" pitchFamily="18" charset="0"/>
                        </a:rPr>
                        <a:t>without machine learning methods, the use of machine learning</a:t>
                      </a:r>
                      <a:r>
                        <a:rPr lang="en-US" sz="1600" baseline="0" dirty="0">
                          <a:effectLst/>
                          <a:latin typeface="Times New Roman" pitchFamily="18" charset="0"/>
                          <a:cs typeface="Times New Roman" pitchFamily="18" charset="0"/>
                        </a:rPr>
                        <a:t> </a:t>
                      </a:r>
                      <a:r>
                        <a:rPr lang="en-US" sz="1600" dirty="0">
                          <a:effectLst/>
                          <a:latin typeface="Times New Roman" pitchFamily="18" charset="0"/>
                          <a:cs typeface="Times New Roman" pitchFamily="18" charset="0"/>
                        </a:rPr>
                        <a:t>methods for detecting vulnerabilities is a growing concern among</a:t>
                      </a:r>
                      <a:r>
                        <a:rPr lang="en-US" sz="1600" baseline="0" dirty="0">
                          <a:effectLst/>
                          <a:latin typeface="Times New Roman" pitchFamily="18" charset="0"/>
                          <a:cs typeface="Times New Roman" pitchFamily="18" charset="0"/>
                        </a:rPr>
                        <a:t> </a:t>
                      </a:r>
                      <a:r>
                        <a:rPr lang="en-US" sz="1600" dirty="0">
                          <a:effectLst/>
                          <a:latin typeface="Times New Roman" pitchFamily="18" charset="0"/>
                          <a:cs typeface="Times New Roman" pitchFamily="18" charset="0"/>
                        </a:rPr>
                        <a:t>researchers of image processing.</a:t>
                      </a:r>
                      <a:endParaRPr lang="en-US" sz="1600" b="0" i="0" dirty="0">
                        <a:solidFill>
                          <a:srgbClr val="000000"/>
                        </a:solidFill>
                        <a:effectLst/>
                        <a:latin typeface="Times New Roman" pitchFamily="18" charset="0"/>
                        <a:cs typeface="Times New Roman" pitchFamily="18" charset="0"/>
                      </a:endParaRPr>
                    </a:p>
                  </a:txBody>
                  <a:tcPr marL="51206" marR="51206" marT="25603" marB="25603"/>
                </a:tc>
                <a:tc>
                  <a:txBody>
                    <a:bodyPr/>
                    <a:lstStyle/>
                    <a:p>
                      <a:pPr lvl="0" algn="l" rtl="0">
                        <a:buNone/>
                      </a:pPr>
                      <a:r>
                        <a:rPr lang="en-US" sz="1600" dirty="0">
                          <a:effectLst/>
                          <a:latin typeface="Times New Roman" pitchFamily="18" charset="0"/>
                          <a:cs typeface="Times New Roman" pitchFamily="18" charset="0"/>
                        </a:rPr>
                        <a:t>This paper specifically, conducts</a:t>
                      </a:r>
                      <a:r>
                        <a:rPr lang="en-US" sz="1600" baseline="0" dirty="0">
                          <a:effectLst/>
                          <a:latin typeface="Times New Roman" pitchFamily="18" charset="0"/>
                          <a:cs typeface="Times New Roman" pitchFamily="18" charset="0"/>
                        </a:rPr>
                        <a:t> </a:t>
                      </a:r>
                      <a:r>
                        <a:rPr lang="en-US" sz="1600" dirty="0">
                          <a:effectLst/>
                          <a:latin typeface="Times New Roman" pitchFamily="18" charset="0"/>
                          <a:cs typeface="Times New Roman" pitchFamily="18" charset="0"/>
                        </a:rPr>
                        <a:t>simulation experiments using real trace data to verify whether</a:t>
                      </a:r>
                    </a:p>
                    <a:p>
                      <a:r>
                        <a:rPr lang="en-US" sz="1600" dirty="0">
                          <a:effectLst/>
                          <a:latin typeface="Times New Roman" pitchFamily="18" charset="0"/>
                          <a:cs typeface="Times New Roman" pitchFamily="18" charset="0"/>
                        </a:rPr>
                        <a:t>a one-pixel attack on CNN-NIDS degrades the performance</a:t>
                      </a:r>
                      <a:r>
                        <a:rPr lang="en-US" sz="1600" baseline="0" dirty="0">
                          <a:effectLst/>
                          <a:latin typeface="Times New Roman" pitchFamily="18" charset="0"/>
                          <a:cs typeface="Times New Roman" pitchFamily="18" charset="0"/>
                        </a:rPr>
                        <a:t> </a:t>
                      </a:r>
                      <a:r>
                        <a:rPr lang="en-US" sz="1600" dirty="0">
                          <a:effectLst/>
                          <a:latin typeface="Times New Roman" pitchFamily="18" charset="0"/>
                          <a:cs typeface="Times New Roman" pitchFamily="18" charset="0"/>
                        </a:rPr>
                        <a:t>of the detection system. </a:t>
                      </a:r>
                      <a:r>
                        <a:rPr lang="en-US" sz="1600" kern="1200" baseline="0" dirty="0">
                          <a:latin typeface="Times New Roman" pitchFamily="18" charset="0"/>
                          <a:cs typeface="Times New Roman" pitchFamily="18" charset="0"/>
                        </a:rPr>
                        <a:t>We launch a one-pixel attack (d = 1) against the</a:t>
                      </a:r>
                    </a:p>
                    <a:p>
                      <a:r>
                        <a:rPr lang="en-US" sz="1600" kern="1200" baseline="0" dirty="0">
                          <a:latin typeface="Times New Roman" pitchFamily="18" charset="0"/>
                          <a:cs typeface="Times New Roman" pitchFamily="18" charset="0"/>
                        </a:rPr>
                        <a:t>trained CNN-NIDS to assess the vulnerability of the machine</a:t>
                      </a:r>
                    </a:p>
                    <a:p>
                      <a:r>
                        <a:rPr lang="en-US" sz="1600" kern="1200" baseline="0" dirty="0">
                          <a:latin typeface="Times New Roman" pitchFamily="18" charset="0"/>
                          <a:cs typeface="Times New Roman" pitchFamily="18" charset="0"/>
                        </a:rPr>
                        <a:t>learning-based anomaly detection system. Moreover, we consider</a:t>
                      </a:r>
                    </a:p>
                    <a:p>
                      <a:r>
                        <a:rPr lang="en-US" sz="1600" kern="1200" baseline="0" dirty="0">
                          <a:latin typeface="Times New Roman" pitchFamily="18" charset="0"/>
                          <a:cs typeface="Times New Roman" pitchFamily="18" charset="0"/>
                        </a:rPr>
                        <a:t>two countermeasures: One is the increase in the number of layers in CNN-NIDS and the other is the retraining of CNNNIDS using adversarial examples, i.e., images that can deceive CNN-NIDS.</a:t>
                      </a:r>
                      <a:endParaRPr lang="en-US" sz="1600" b="0" i="0" dirty="0">
                        <a:solidFill>
                          <a:srgbClr val="000000"/>
                        </a:solidFill>
                        <a:effectLst/>
                        <a:latin typeface="Times New Roman" pitchFamily="18" charset="0"/>
                        <a:cs typeface="Times New Roman" pitchFamily="18" charset="0"/>
                      </a:endParaRPr>
                    </a:p>
                  </a:txBody>
                  <a:tcPr marL="51206" marR="51206" marT="25603" marB="25603"/>
                </a:tc>
                <a:tc>
                  <a:txBody>
                    <a:bodyPr/>
                    <a:lstStyle/>
                    <a:p>
                      <a:pPr lvl="0" algn="l" rtl="0">
                        <a:buNone/>
                      </a:pPr>
                      <a:r>
                        <a:rPr lang="en-US" sz="1600" dirty="0">
                          <a:effectLst/>
                          <a:latin typeface="Times New Roman" pitchFamily="18" charset="0"/>
                          <a:cs typeface="Times New Roman" pitchFamily="18" charset="0"/>
                        </a:rPr>
                        <a:t>For some trials, the performance</a:t>
                      </a:r>
                    </a:p>
                    <a:p>
                      <a:pPr lvl="0" algn="l" rtl="0">
                        <a:buNone/>
                      </a:pPr>
                      <a:r>
                        <a:rPr lang="en-US" sz="1600" dirty="0">
                          <a:effectLst/>
                          <a:latin typeface="Times New Roman" pitchFamily="18" charset="0"/>
                          <a:cs typeface="Times New Roman" pitchFamily="18" charset="0"/>
                        </a:rPr>
                        <a:t>of the retrained CNN-NIDS is degraded, and the retraining</a:t>
                      </a:r>
                    </a:p>
                    <a:p>
                      <a:pPr lvl="0" algn="l" rtl="0">
                        <a:buNone/>
                      </a:pPr>
                      <a:r>
                        <a:rPr lang="en-US" sz="1600" dirty="0">
                          <a:effectLst/>
                          <a:latin typeface="Times New Roman" pitchFamily="18" charset="0"/>
                          <a:cs typeface="Times New Roman" pitchFamily="18" charset="0"/>
                        </a:rPr>
                        <a:t>failed. Therefore, to enhance the countermeasure of the CNN-</a:t>
                      </a:r>
                      <a:r>
                        <a:rPr lang="en-US" sz="1600" baseline="0" dirty="0">
                          <a:effectLst/>
                          <a:latin typeface="Times New Roman" pitchFamily="18" charset="0"/>
                          <a:cs typeface="Times New Roman" pitchFamily="18" charset="0"/>
                        </a:rPr>
                        <a:t> </a:t>
                      </a:r>
                      <a:r>
                        <a:rPr lang="en-US" sz="1600" dirty="0">
                          <a:effectLst/>
                          <a:latin typeface="Times New Roman" pitchFamily="18" charset="0"/>
                          <a:cs typeface="Times New Roman" pitchFamily="18" charset="0"/>
                        </a:rPr>
                        <a:t>NIDS by retraining, more sophisticated learning methods are</a:t>
                      </a:r>
                    </a:p>
                    <a:p>
                      <a:pPr lvl="0" algn="l" rtl="0">
                        <a:buNone/>
                      </a:pPr>
                      <a:r>
                        <a:rPr lang="en-US" sz="1600" dirty="0">
                          <a:effectLst/>
                          <a:latin typeface="Times New Roman" pitchFamily="18" charset="0"/>
                          <a:cs typeface="Times New Roman" pitchFamily="18" charset="0"/>
                        </a:rPr>
                        <a:t>needed.</a:t>
                      </a:r>
                      <a:endParaRPr lang="en-US" sz="1600" b="0" i="0" dirty="0">
                        <a:solidFill>
                          <a:srgbClr val="000000"/>
                        </a:solidFill>
                        <a:effectLst/>
                        <a:latin typeface="Times New Roman" pitchFamily="18" charset="0"/>
                        <a:cs typeface="Times New Roman" pitchFamily="18" charset="0"/>
                      </a:endParaRPr>
                    </a:p>
                  </a:txBody>
                  <a:tcPr marL="51206" marR="51206" marT="25603" marB="25603"/>
                </a:tc>
                <a:extLst>
                  <a:ext uri="{0D108BD9-81ED-4DB2-BD59-A6C34878D82A}">
                    <a16:rowId xmlns:a16="http://schemas.microsoft.com/office/drawing/2014/main" val="984038992"/>
                  </a:ext>
                </a:extLst>
              </a:tr>
            </a:tbl>
          </a:graphicData>
        </a:graphic>
      </p:graphicFrame>
      <p:pic>
        <p:nvPicPr>
          <p:cNvPr id="5" name="Picture 2" descr="CEG Outlook">
            <a:extLst>
              <a:ext uri="{FF2B5EF4-FFF2-40B4-BE49-F238E27FC236}">
                <a16:creationId xmlns:a16="http://schemas.microsoft.com/office/drawing/2014/main" id="{040B1303-EA77-FFFA-C684-72DE53716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50"/>
          <a:stretch>
            <a:fillRect/>
          </a:stretch>
        </p:blipFill>
        <p:spPr bwMode="auto">
          <a:xfrm>
            <a:off x="10773002" y="360342"/>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download.jpg">
            <a:extLst>
              <a:ext uri="{FF2B5EF4-FFF2-40B4-BE49-F238E27FC236}">
                <a16:creationId xmlns:a16="http://schemas.microsoft.com/office/drawing/2014/main" id="{A8B6A003-F7DB-EBF0-8BB4-E126962F76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1" y="348344"/>
            <a:ext cx="13890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371656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230875940"/>
              </p:ext>
            </p:extLst>
          </p:nvPr>
        </p:nvGraphicFramePr>
        <p:xfrm>
          <a:off x="477240" y="1134318"/>
          <a:ext cx="11214370" cy="5106364"/>
        </p:xfrm>
        <a:graphic>
          <a:graphicData uri="http://schemas.openxmlformats.org/drawingml/2006/table">
            <a:tbl>
              <a:tblPr firstRow="1" bandRow="1">
                <a:tableStyleId>{5C22544A-7EE6-4342-B048-85BDC9FD1C3A}</a:tableStyleId>
              </a:tblPr>
              <a:tblGrid>
                <a:gridCol w="678504">
                  <a:extLst>
                    <a:ext uri="{9D8B030D-6E8A-4147-A177-3AD203B41FA5}">
                      <a16:colId xmlns:a16="http://schemas.microsoft.com/office/drawing/2014/main" val="794913627"/>
                    </a:ext>
                  </a:extLst>
                </a:gridCol>
                <a:gridCol w="1585609">
                  <a:extLst>
                    <a:ext uri="{9D8B030D-6E8A-4147-A177-3AD203B41FA5}">
                      <a16:colId xmlns:a16="http://schemas.microsoft.com/office/drawing/2014/main" val="3089978964"/>
                    </a:ext>
                  </a:extLst>
                </a:gridCol>
                <a:gridCol w="3092288">
                  <a:extLst>
                    <a:ext uri="{9D8B030D-6E8A-4147-A177-3AD203B41FA5}">
                      <a16:colId xmlns:a16="http://schemas.microsoft.com/office/drawing/2014/main" val="3002521106"/>
                    </a:ext>
                  </a:extLst>
                </a:gridCol>
                <a:gridCol w="3345083">
                  <a:extLst>
                    <a:ext uri="{9D8B030D-6E8A-4147-A177-3AD203B41FA5}">
                      <a16:colId xmlns:a16="http://schemas.microsoft.com/office/drawing/2014/main" val="680814346"/>
                    </a:ext>
                  </a:extLst>
                </a:gridCol>
                <a:gridCol w="2512886">
                  <a:extLst>
                    <a:ext uri="{9D8B030D-6E8A-4147-A177-3AD203B41FA5}">
                      <a16:colId xmlns:a16="http://schemas.microsoft.com/office/drawing/2014/main" val="2493878613"/>
                    </a:ext>
                  </a:extLst>
                </a:gridCol>
              </a:tblGrid>
              <a:tr h="381964">
                <a:tc>
                  <a:txBody>
                    <a:bodyPr/>
                    <a:lstStyle/>
                    <a:p>
                      <a:r>
                        <a:rPr lang="en-IN" sz="1400" dirty="0">
                          <a:latin typeface="Times New Roman" panose="02020603050405020304" pitchFamily="18" charset="0"/>
                          <a:cs typeface="Times New Roman" panose="02020603050405020304" pitchFamily="18" charset="0"/>
                        </a:rPr>
                        <a:t>S.NO</a:t>
                      </a:r>
                    </a:p>
                  </a:txBody>
                  <a:tcPr/>
                </a:tc>
                <a:tc>
                  <a:txBody>
                    <a:bodyPr/>
                    <a:lstStyle/>
                    <a:p>
                      <a:r>
                        <a:rPr lang="en-IN" sz="1400" dirty="0">
                          <a:latin typeface="Times New Roman" panose="02020603050405020304" pitchFamily="18" charset="0"/>
                          <a:cs typeface="Times New Roman" panose="02020603050405020304" pitchFamily="18" charset="0"/>
                        </a:rPr>
                        <a:t>TITLE/AUTHOR</a:t>
                      </a:r>
                    </a:p>
                  </a:txBody>
                  <a:tcPr/>
                </a:tc>
                <a:tc>
                  <a:txBody>
                    <a:bodyPr/>
                    <a:lstStyle/>
                    <a:p>
                      <a:r>
                        <a:rPr lang="en-IN" sz="1400" dirty="0">
                          <a:latin typeface="Times New Roman" panose="02020603050405020304" pitchFamily="18" charset="0"/>
                          <a:cs typeface="Times New Roman" panose="02020603050405020304" pitchFamily="18" charset="0"/>
                        </a:rPr>
                        <a:t>OBJECTIVE AND MOTIVATION</a:t>
                      </a:r>
                    </a:p>
                  </a:txBody>
                  <a:tcPr/>
                </a:tc>
                <a:tc>
                  <a:txBody>
                    <a:bodyPr/>
                    <a:lstStyle/>
                    <a:p>
                      <a:r>
                        <a:rPr lang="en-IN" sz="1400" dirty="0">
                          <a:latin typeface="Times New Roman" panose="02020603050405020304" pitchFamily="18" charset="0"/>
                          <a:cs typeface="Times New Roman" panose="02020603050405020304" pitchFamily="18" charset="0"/>
                        </a:rPr>
                        <a:t>METHODOLOGY</a:t>
                      </a:r>
                    </a:p>
                  </a:txBody>
                  <a:tcPr/>
                </a:tc>
                <a:tc>
                  <a:txBody>
                    <a:bodyPr/>
                    <a:lstStyle/>
                    <a:p>
                      <a:r>
                        <a:rPr lang="en-IN" sz="14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1632663343"/>
                  </a:ext>
                </a:extLst>
              </a:tr>
              <a:tr h="4278433">
                <a:tc>
                  <a:txBody>
                    <a:bodyPr/>
                    <a:lstStyle/>
                    <a:p>
                      <a:r>
                        <a:rPr lang="en-US" sz="1400" dirty="0">
                          <a:latin typeface="Times New Roman" panose="02020603050405020304" pitchFamily="18" charset="0"/>
                          <a:cs typeface="Times New Roman" panose="02020603050405020304" pitchFamily="18" charset="0"/>
                        </a:rPr>
                        <a:t>3.</a:t>
                      </a:r>
                      <a:endParaRPr lang="en-IN" sz="1400" dirty="0">
                        <a:latin typeface="Times New Roman" panose="02020603050405020304" pitchFamily="18" charset="0"/>
                        <a:cs typeface="Times New Roman" panose="02020603050405020304" pitchFamily="18" charset="0"/>
                      </a:endParaRPr>
                    </a:p>
                  </a:txBody>
                  <a:tcPr/>
                </a:tc>
                <a:tc>
                  <a:txBody>
                    <a:bodyPr/>
                    <a:lstStyle/>
                    <a:p>
                      <a:r>
                        <a:rPr lang="en-US" sz="1600" b="1" dirty="0">
                          <a:latin typeface="Times New Roman" panose="02020603050405020304" pitchFamily="18" charset="0"/>
                          <a:cs typeface="Times New Roman" panose="02020603050405020304" pitchFamily="18" charset="0"/>
                        </a:rPr>
                        <a:t>Digital Healthcare System Vulnerability Analysis using Network Forensic Tool </a:t>
                      </a:r>
                    </a:p>
                  </a:txBody>
                  <a:tcPr/>
                </a:tc>
                <a:tc>
                  <a:txBody>
                    <a:bodyPr/>
                    <a:lstStyle/>
                    <a:p>
                      <a:r>
                        <a:rPr lang="en-US" sz="1600" b="1" dirty="0">
                          <a:latin typeface="Times New Roman" panose="02020603050405020304" pitchFamily="18" charset="0"/>
                          <a:cs typeface="Times New Roman" panose="02020603050405020304" pitchFamily="18" charset="0"/>
                        </a:rPr>
                        <a:t>Objective: </a:t>
                      </a:r>
                      <a:r>
                        <a:rPr lang="en-US" sz="1600" b="0" dirty="0">
                          <a:latin typeface="Times New Roman" panose="02020603050405020304" pitchFamily="18" charset="0"/>
                          <a:cs typeface="Times New Roman" panose="02020603050405020304" pitchFamily="18" charset="0"/>
                        </a:rPr>
                        <a:t>In this paper, the functionalities of </a:t>
                      </a:r>
                    </a:p>
                    <a:p>
                      <a:r>
                        <a:rPr lang="en-US" sz="1600" b="0" dirty="0" err="1">
                          <a:latin typeface="Times New Roman" panose="02020603050405020304" pitchFamily="18" charset="0"/>
                          <a:cs typeface="Times New Roman" panose="02020603050405020304" pitchFamily="18" charset="0"/>
                        </a:rPr>
                        <a:t>Wireshark</a:t>
                      </a:r>
                      <a:r>
                        <a:rPr lang="en-US" sz="1600" b="0" dirty="0">
                          <a:latin typeface="Times New Roman" panose="02020603050405020304" pitchFamily="18" charset="0"/>
                          <a:cs typeface="Times New Roman" panose="02020603050405020304" pitchFamily="18" charset="0"/>
                        </a:rPr>
                        <a:t> as a sniffing network tool is illustrated, an </a:t>
                      </a:r>
                      <a:r>
                        <a:rPr lang="en-US" sz="1600" b="0" baseline="0" dirty="0">
                          <a:latin typeface="Times New Roman" panose="02020603050405020304" pitchFamily="18" charset="0"/>
                          <a:cs typeface="Times New Roman" panose="02020603050405020304" pitchFamily="18" charset="0"/>
                        </a:rPr>
                        <a:t> </a:t>
                      </a:r>
                      <a:r>
                        <a:rPr lang="en-US" sz="1600" b="0" dirty="0">
                          <a:latin typeface="Times New Roman" panose="02020603050405020304" pitchFamily="18" charset="0"/>
                          <a:cs typeface="Times New Roman" panose="02020603050405020304" pitchFamily="18" charset="0"/>
                        </a:rPr>
                        <a:t>experiment is carried out obtaining a live network packet capture, breaking down network transmissions and various packets. </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Motive: </a:t>
                      </a:r>
                      <a:r>
                        <a:rPr lang="en-US" sz="1600" b="1" baseline="0" dirty="0">
                          <a:latin typeface="Times New Roman" panose="02020603050405020304" pitchFamily="18" charset="0"/>
                          <a:cs typeface="Times New Roman" panose="02020603050405020304" pitchFamily="18" charset="0"/>
                        </a:rPr>
                        <a:t> </a:t>
                      </a:r>
                      <a:r>
                        <a:rPr lang="en-US" sz="1600" b="0" dirty="0">
                          <a:latin typeface="Times New Roman" panose="02020603050405020304" pitchFamily="18" charset="0"/>
                          <a:cs typeface="Times New Roman" panose="02020603050405020304" pitchFamily="18" charset="0"/>
                        </a:rPr>
                        <a:t>Conducting a forensic analysis on network security attacks is the ability to collect and analyze data to find out evidence that could lead to a specific break in a network intrusion detection. </a:t>
                      </a:r>
                      <a:r>
                        <a:rPr lang="en-US" sz="1600" b="0" dirty="0" err="1">
                          <a:latin typeface="Times New Roman" panose="02020603050405020304" pitchFamily="18" charset="0"/>
                          <a:cs typeface="Times New Roman" panose="02020603050405020304" pitchFamily="18" charset="0"/>
                        </a:rPr>
                        <a:t>Wireshark</a:t>
                      </a:r>
                      <a:r>
                        <a:rPr lang="en-US" sz="1600" b="0" dirty="0">
                          <a:latin typeface="Times New Roman" panose="02020603050405020304" pitchFamily="18" charset="0"/>
                          <a:cs typeface="Times New Roman" panose="02020603050405020304" pitchFamily="18" charset="0"/>
                        </a:rPr>
                        <a:t> network protocol analyzer tool helps the ethical hacker to reveal the loop-holes in the cyber security at the user level. </a:t>
                      </a:r>
                    </a:p>
                  </a:txBody>
                  <a:tcPr/>
                </a:tc>
                <a:tc>
                  <a:txBody>
                    <a:bodyPr/>
                    <a:lstStyle/>
                    <a:p>
                      <a:r>
                        <a:rPr lang="en-US" sz="1600" dirty="0">
                          <a:latin typeface="Times New Roman" pitchFamily="18" charset="0"/>
                          <a:cs typeface="Times New Roman" pitchFamily="18" charset="0"/>
                        </a:rPr>
                        <a:t>begins with selecting the appropriate Wi-Fi interface for packet capture, ensuring all network traffic is monitored effectively. Using a packet sniffer, such as </a:t>
                      </a:r>
                      <a:r>
                        <a:rPr lang="en-US" sz="1600" dirty="0" err="1">
                          <a:latin typeface="Times New Roman" pitchFamily="18" charset="0"/>
                          <a:cs typeface="Times New Roman" pitchFamily="18" charset="0"/>
                        </a:rPr>
                        <a:t>Wireshark</a:t>
                      </a:r>
                      <a:r>
                        <a:rPr lang="en-US" sz="1600" dirty="0">
                          <a:latin typeface="Times New Roman" pitchFamily="18" charset="0"/>
                          <a:cs typeface="Times New Roman" pitchFamily="18" charset="0"/>
                        </a:rPr>
                        <a:t>, aids in intrusion detection by analyzing the captured data for unusual patterns or unauthorized access attempts. Next, an assessment may include browsing and logging into a vulnerable website to test its security. Identifying 'POST' requests is crucial as these requests often contain sensitive information, such as usernames and passwords. By pulling this data, security professionals can evaluate how securely user credentials are handled. </a:t>
                      </a:r>
                      <a:endParaRPr lang="en-IN" sz="1600" dirty="0">
                        <a:latin typeface="Times New Roman" pitchFamily="18" charset="0"/>
                        <a:cs typeface="Times New Roman" pitchFamily="18" charset="0"/>
                      </a:endParaRPr>
                    </a:p>
                  </a:txBody>
                  <a:tcPr/>
                </a:tc>
                <a:tc>
                  <a:txBody>
                    <a:bodyPr/>
                    <a:lstStyle/>
                    <a:p>
                      <a:r>
                        <a:rPr lang="en-US" sz="1600" dirty="0">
                          <a:latin typeface="Times New Roman" panose="02020603050405020304" pitchFamily="18" charset="0"/>
                          <a:cs typeface="Times New Roman" panose="02020603050405020304" pitchFamily="18" charset="0"/>
                        </a:rPr>
                        <a:t>One significant challenge is data overload;.</a:t>
                      </a:r>
                      <a:r>
                        <a:rPr lang="en-US" sz="1600" baseline="0" dirty="0">
                          <a:latin typeface="Times New Roman" panose="02020603050405020304" pitchFamily="18" charset="0"/>
                          <a:cs typeface="Times New Roman" panose="02020603050405020304" pitchFamily="18" charset="0"/>
                        </a:rPr>
                        <a:t> </a:t>
                      </a:r>
                      <a:r>
                        <a:rPr lang="en-US" sz="1600" dirty="0">
                          <a:latin typeface="Times New Roman" panose="02020603050405020304" pitchFamily="18" charset="0"/>
                          <a:cs typeface="Times New Roman" panose="02020603050405020304" pitchFamily="18" charset="0"/>
                        </a:rPr>
                        <a:t>If traffic is encrypted, </a:t>
                      </a:r>
                      <a:r>
                        <a:rPr lang="en-US" sz="1600" dirty="0" err="1">
                          <a:latin typeface="Times New Roman" panose="02020603050405020304" pitchFamily="18" charset="0"/>
                          <a:cs typeface="Times New Roman" panose="02020603050405020304" pitchFamily="18" charset="0"/>
                        </a:rPr>
                        <a:t>Wireshark</a:t>
                      </a:r>
                      <a:r>
                        <a:rPr lang="en-US" sz="1600" dirty="0">
                          <a:latin typeface="Times New Roman" panose="02020603050405020304" pitchFamily="18" charset="0"/>
                          <a:cs typeface="Times New Roman" panose="02020603050405020304" pitchFamily="18" charset="0"/>
                        </a:rPr>
                        <a:t> cannot directly analyze the contents of 'POST' requests or other sensitive data, reducing its effectiveness in uncovering security issues. Additionally, </a:t>
                      </a:r>
                      <a:r>
                        <a:rPr lang="en-US" sz="1600" dirty="0" err="1">
                          <a:latin typeface="Times New Roman" panose="02020603050405020304" pitchFamily="18" charset="0"/>
                          <a:cs typeface="Times New Roman" panose="02020603050405020304" pitchFamily="18" charset="0"/>
                        </a:rPr>
                        <a:t>Wireshark</a:t>
                      </a:r>
                      <a:r>
                        <a:rPr lang="en-US" sz="1600" dirty="0">
                          <a:latin typeface="Times New Roman" panose="02020603050405020304" pitchFamily="18" charset="0"/>
                          <a:cs typeface="Times New Roman" panose="02020603050405020304" pitchFamily="18" charset="0"/>
                        </a:rPr>
                        <a:t> primarily focuses on network-level issues and may not detect application-layer vulnerabilities or specific coding flaws</a:t>
                      </a:r>
                      <a:r>
                        <a:rPr lang="en-US" sz="1600" baseline="0" dirty="0">
                          <a:latin typeface="Times New Roman" panose="02020603050405020304" pitchFamily="18" charset="0"/>
                          <a:cs typeface="Times New Roman" panose="02020603050405020304" pitchFamily="18" charset="0"/>
                        </a:rPr>
                        <a:t> and t</a:t>
                      </a:r>
                      <a:r>
                        <a:rPr lang="en-US" sz="1600" dirty="0">
                          <a:latin typeface="Times New Roman" panose="02020603050405020304" pitchFamily="18" charset="0"/>
                          <a:cs typeface="Times New Roman" panose="02020603050405020304" pitchFamily="18" charset="0"/>
                        </a:rPr>
                        <a:t>he risk of false positives and missed detections necessitates further validation and context to accurately assess security. </a:t>
                      </a:r>
                    </a:p>
                  </a:txBody>
                  <a:tcPr/>
                </a:tc>
                <a:extLst>
                  <a:ext uri="{0D108BD9-81ED-4DB2-BD59-A6C34878D82A}">
                    <a16:rowId xmlns:a16="http://schemas.microsoft.com/office/drawing/2014/main" val="3088855177"/>
                  </a:ext>
                </a:extLst>
              </a:tr>
            </a:tbl>
          </a:graphicData>
        </a:graphic>
      </p:graphicFrame>
      <p:pic>
        <p:nvPicPr>
          <p:cNvPr id="5" name="Picture 2" descr="CEG Outlook">
            <a:extLst>
              <a:ext uri="{FF2B5EF4-FFF2-40B4-BE49-F238E27FC236}">
                <a16:creationId xmlns:a16="http://schemas.microsoft.com/office/drawing/2014/main" id="{5281CE33-CAD6-86CA-6BD1-F1FDB38F80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50"/>
          <a:stretch>
            <a:fillRect/>
          </a:stretch>
        </p:blipFill>
        <p:spPr bwMode="auto">
          <a:xfrm>
            <a:off x="10715128" y="0"/>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download.jpg">
            <a:extLst>
              <a:ext uri="{FF2B5EF4-FFF2-40B4-BE49-F238E27FC236}">
                <a16:creationId xmlns:a16="http://schemas.microsoft.com/office/drawing/2014/main" id="{AA6E17A5-FAAE-B529-72F3-34C7D482966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1493" y="0"/>
            <a:ext cx="13890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9032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2629446839"/>
              </p:ext>
            </p:extLst>
          </p:nvPr>
        </p:nvGraphicFramePr>
        <p:xfrm>
          <a:off x="272142" y="1632856"/>
          <a:ext cx="11736597" cy="5007920"/>
        </p:xfrm>
        <a:graphic>
          <a:graphicData uri="http://schemas.openxmlformats.org/drawingml/2006/table">
            <a:tbl>
              <a:tblPr firstRow="1" bandRow="1">
                <a:tableStyleId>{5C22544A-7EE6-4342-B048-85BDC9FD1C3A}</a:tableStyleId>
              </a:tblPr>
              <a:tblGrid>
                <a:gridCol w="801621">
                  <a:extLst>
                    <a:ext uri="{9D8B030D-6E8A-4147-A177-3AD203B41FA5}">
                      <a16:colId xmlns:a16="http://schemas.microsoft.com/office/drawing/2014/main" val="749943175"/>
                    </a:ext>
                  </a:extLst>
                </a:gridCol>
                <a:gridCol w="1634713">
                  <a:extLst>
                    <a:ext uri="{9D8B030D-6E8A-4147-A177-3AD203B41FA5}">
                      <a16:colId xmlns:a16="http://schemas.microsoft.com/office/drawing/2014/main" val="2908332066"/>
                    </a:ext>
                  </a:extLst>
                </a:gridCol>
                <a:gridCol w="4605625">
                  <a:extLst>
                    <a:ext uri="{9D8B030D-6E8A-4147-A177-3AD203B41FA5}">
                      <a16:colId xmlns:a16="http://schemas.microsoft.com/office/drawing/2014/main" val="1114371048"/>
                    </a:ext>
                  </a:extLst>
                </a:gridCol>
                <a:gridCol w="2061393">
                  <a:extLst>
                    <a:ext uri="{9D8B030D-6E8A-4147-A177-3AD203B41FA5}">
                      <a16:colId xmlns:a16="http://schemas.microsoft.com/office/drawing/2014/main" val="2367760707"/>
                    </a:ext>
                  </a:extLst>
                </a:gridCol>
                <a:gridCol w="2633245">
                  <a:extLst>
                    <a:ext uri="{9D8B030D-6E8A-4147-A177-3AD203B41FA5}">
                      <a16:colId xmlns:a16="http://schemas.microsoft.com/office/drawing/2014/main" val="3945506623"/>
                    </a:ext>
                  </a:extLst>
                </a:gridCol>
              </a:tblGrid>
              <a:tr h="527360">
                <a:tc>
                  <a:txBody>
                    <a:bodyPr/>
                    <a:lstStyle/>
                    <a:p>
                      <a:r>
                        <a:rPr lang="en-IN" sz="1400" dirty="0">
                          <a:latin typeface="Times New Roman" panose="02020603050405020304" pitchFamily="18" charset="0"/>
                          <a:cs typeface="Times New Roman" panose="02020603050405020304" pitchFamily="18" charset="0"/>
                        </a:rPr>
                        <a:t>S.NO</a:t>
                      </a:r>
                    </a:p>
                  </a:txBody>
                  <a:tcPr/>
                </a:tc>
                <a:tc>
                  <a:txBody>
                    <a:bodyPr/>
                    <a:lstStyle/>
                    <a:p>
                      <a:r>
                        <a:rPr lang="en-IN" sz="1400" dirty="0">
                          <a:latin typeface="Times New Roman" panose="02020603050405020304" pitchFamily="18" charset="0"/>
                          <a:cs typeface="Times New Roman" panose="02020603050405020304" pitchFamily="18" charset="0"/>
                        </a:rPr>
                        <a:t>TITLE/AUTHOR</a:t>
                      </a:r>
                    </a:p>
                  </a:txBody>
                  <a:tcPr/>
                </a:tc>
                <a:tc>
                  <a:txBody>
                    <a:bodyPr/>
                    <a:lstStyle/>
                    <a:p>
                      <a:r>
                        <a:rPr lang="en-IN" sz="1400" dirty="0">
                          <a:latin typeface="Times New Roman" panose="02020603050405020304" pitchFamily="18" charset="0"/>
                          <a:cs typeface="Times New Roman" panose="02020603050405020304" pitchFamily="18" charset="0"/>
                        </a:rPr>
                        <a:t>OBJECTIVE AND MOTIVATION</a:t>
                      </a:r>
                    </a:p>
                  </a:txBody>
                  <a:tcPr/>
                </a:tc>
                <a:tc>
                  <a:txBody>
                    <a:bodyPr/>
                    <a:lstStyle/>
                    <a:p>
                      <a:r>
                        <a:rPr lang="en-IN" sz="1400" dirty="0">
                          <a:latin typeface="Times New Roman" panose="02020603050405020304" pitchFamily="18" charset="0"/>
                          <a:cs typeface="Times New Roman" panose="02020603050405020304" pitchFamily="18" charset="0"/>
                        </a:rPr>
                        <a:t>METHODOLOGY</a:t>
                      </a:r>
                    </a:p>
                  </a:txBody>
                  <a:tcPr/>
                </a:tc>
                <a:tc>
                  <a:txBody>
                    <a:bodyPr/>
                    <a:lstStyle/>
                    <a:p>
                      <a:r>
                        <a:rPr lang="en-IN" sz="1400" dirty="0">
                          <a:latin typeface="Times New Roman" panose="02020603050405020304" pitchFamily="18" charset="0"/>
                          <a:cs typeface="Times New Roman" panose="02020603050405020304" pitchFamily="18" charset="0"/>
                        </a:rPr>
                        <a:t>LIMITATIONS</a:t>
                      </a:r>
                    </a:p>
                  </a:txBody>
                  <a:tcPr/>
                </a:tc>
                <a:extLst>
                  <a:ext uri="{0D108BD9-81ED-4DB2-BD59-A6C34878D82A}">
                    <a16:rowId xmlns:a16="http://schemas.microsoft.com/office/drawing/2014/main" val="560745651"/>
                  </a:ext>
                </a:extLst>
              </a:tr>
              <a:tr h="4114123">
                <a:tc>
                  <a:txBody>
                    <a:bodyPr/>
                    <a:lstStyle/>
                    <a:p>
                      <a:r>
                        <a:rPr lang="en-IN" sz="1600" dirty="0">
                          <a:latin typeface="Times New Roman" panose="02020603050405020304" pitchFamily="18" charset="0"/>
                          <a:cs typeface="Times New Roman" panose="02020603050405020304" pitchFamily="18" charset="0"/>
                        </a:rPr>
                        <a:t>4.</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Revisiting computer networking protocols by wireless sniffing on brain</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dirty="0">
                          <a:latin typeface="Times New Roman" panose="02020603050405020304" pitchFamily="18" charset="0"/>
                          <a:cs typeface="Times New Roman" panose="02020603050405020304" pitchFamily="18" charset="0"/>
                        </a:rPr>
                        <a:t>signal/image portals</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a:tc>
                <a:tc>
                  <a:txBody>
                    <a:bodyPr/>
                    <a:lstStyle/>
                    <a:p>
                      <a:r>
                        <a:rPr lang="en-US" sz="1600" b="1" i="0" kern="1200" dirty="0">
                          <a:solidFill>
                            <a:schemeClr val="dk1"/>
                          </a:solidFill>
                          <a:effectLst/>
                          <a:latin typeface="Times New Roman" panose="02020603050405020304" pitchFamily="18" charset="0"/>
                          <a:ea typeface="+mn-ea"/>
                          <a:cs typeface="Times New Roman" panose="02020603050405020304" pitchFamily="18" charset="0"/>
                        </a:rPr>
                        <a:t>Objective:</a:t>
                      </a:r>
                      <a:r>
                        <a:rPr lang="en-US" sz="1600" b="1"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This study interprets the protocol layering information for the captured</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packets, image reconstruction after sniffing the packets, and the DNS/</a:t>
                      </a:r>
                      <a:r>
                        <a:rPr lang="en-US" sz="1600" b="0" i="0" kern="1200" dirty="0" err="1">
                          <a:solidFill>
                            <a:schemeClr val="dk1"/>
                          </a:solidFill>
                          <a:effectLst/>
                          <a:latin typeface="Times New Roman" panose="02020603050405020304" pitchFamily="18" charset="0"/>
                          <a:ea typeface="+mn-ea"/>
                          <a:cs typeface="Times New Roman" panose="02020603050405020304" pitchFamily="18" charset="0"/>
                        </a:rPr>
                        <a:t>rDNS</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response times for a given portal/IP address</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using a </a:t>
                      </a:r>
                      <a:r>
                        <a:rPr lang="en-US" sz="1600" b="0" i="0" kern="1200" dirty="0" err="1">
                          <a:solidFill>
                            <a:schemeClr val="dk1"/>
                          </a:solidFill>
                          <a:effectLst/>
                          <a:latin typeface="Times New Roman" panose="02020603050405020304" pitchFamily="18" charset="0"/>
                          <a:ea typeface="+mn-ea"/>
                          <a:cs typeface="Times New Roman" panose="02020603050405020304" pitchFamily="18" charset="0"/>
                        </a:rPr>
                        <a:t>Wireshark</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open source tool. Also, the security assessment results such as OS fingerprinting and port sweeping on</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the remote machines are performed using </a:t>
                      </a:r>
                      <a:r>
                        <a:rPr lang="en-US" sz="1600" b="0" i="0" kern="1200" dirty="0" err="1">
                          <a:solidFill>
                            <a:schemeClr val="dk1"/>
                          </a:solidFill>
                          <a:effectLst/>
                          <a:latin typeface="Times New Roman" panose="02020603050405020304" pitchFamily="18" charset="0"/>
                          <a:ea typeface="+mn-ea"/>
                          <a:cs typeface="Times New Roman" panose="02020603050405020304" pitchFamily="18" charset="0"/>
                        </a:rPr>
                        <a:t>Nmap</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 open source tool.</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1" i="0" kern="1200" dirty="0">
                          <a:solidFill>
                            <a:schemeClr val="dk1"/>
                          </a:solidFill>
                          <a:effectLst/>
                          <a:latin typeface="Times New Roman" panose="02020603050405020304" pitchFamily="18" charset="0"/>
                          <a:ea typeface="+mn-ea"/>
                          <a:cs typeface="Times New Roman" panose="02020603050405020304" pitchFamily="18" charset="0"/>
                        </a:rPr>
                        <a:t>Motive: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The precious, abundant</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materials or information in the field of brain signal/image processing is distributed in the diverse scientific, technological</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and physiological periodicals, magazines, journals, international conference proceedings, and also in various portals/</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databases. Security threats or attacks may happen for a portal using data interruption, information interception, content</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modification and fabrication with new data.</a:t>
                      </a:r>
                      <a:endParaRPr lang="en-US" sz="1600" b="0" dirty="0">
                        <a:latin typeface="Times New Roman" panose="02020603050405020304" pitchFamily="18" charset="0"/>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In this study, the networking protocol concepts are applied</a:t>
                      </a:r>
                    </a:p>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to the neurological brain signal/image database servers. Techniques such as image reconstruction, protocol</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t>
                      </a: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layer analysis, and display filters are detailed</a:t>
                      </a:r>
                      <a:r>
                        <a:rPr lang="en-US" sz="1600" b="0" i="0" kern="1200" baseline="0" dirty="0">
                          <a:solidFill>
                            <a:schemeClr val="dk1"/>
                          </a:solidFill>
                          <a:effectLst/>
                          <a:latin typeface="Times New Roman" panose="02020603050405020304" pitchFamily="18" charset="0"/>
                          <a:ea typeface="+mn-ea"/>
                          <a:cs typeface="Times New Roman" panose="02020603050405020304" pitchFamily="18" charset="0"/>
                        </a:rPr>
                        <a:t> and applied.</a:t>
                      </a:r>
                      <a:endParaRPr lang="en-US" sz="1600" b="0" i="0"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dk1"/>
                          </a:solidFill>
                          <a:effectLst/>
                          <a:latin typeface="Times New Roman" panose="02020603050405020304" pitchFamily="18" charset="0"/>
                          <a:ea typeface="+mn-ea"/>
                          <a:cs typeface="Times New Roman" panose="02020603050405020304" pitchFamily="18" charset="0"/>
                        </a:rPr>
                        <a:t>Technologically, the accuracy of brain signal detection and practical implementation of wireless sniffing are currently unfeasible, given existing technology. Additionally, the theoretical basis and methodological rigor of using brain signals for networking analysis may be insufficient or speculative, reflecting the emerging and experimental nature of the involved technologies.</a:t>
                      </a: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4038992"/>
                  </a:ext>
                </a:extLst>
              </a:tr>
            </a:tbl>
          </a:graphicData>
        </a:graphic>
      </p:graphicFrame>
      <p:pic>
        <p:nvPicPr>
          <p:cNvPr id="5" name="Picture 2" descr="CEG Outlook">
            <a:extLst>
              <a:ext uri="{FF2B5EF4-FFF2-40B4-BE49-F238E27FC236}">
                <a16:creationId xmlns:a16="http://schemas.microsoft.com/office/drawing/2014/main" id="{040B1303-EA77-FFFA-C684-72DE537160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50"/>
          <a:stretch>
            <a:fillRect/>
          </a:stretch>
        </p:blipFill>
        <p:spPr bwMode="auto">
          <a:xfrm>
            <a:off x="10773002" y="360342"/>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descr="download.jpg">
            <a:extLst>
              <a:ext uri="{FF2B5EF4-FFF2-40B4-BE49-F238E27FC236}">
                <a16:creationId xmlns:a16="http://schemas.microsoft.com/office/drawing/2014/main" id="{A8B6A003-F7DB-EBF0-8BB4-E126962F764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28601" y="348344"/>
            <a:ext cx="13890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401933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42E60-15FB-7566-3EE0-A91572DA16D0}"/>
              </a:ext>
            </a:extLst>
          </p:cNvPr>
          <p:cNvSpPr>
            <a:spLocks noGrp="1"/>
          </p:cNvSpPr>
          <p:nvPr>
            <p:ph type="title"/>
          </p:nvPr>
        </p:nvSpPr>
        <p:spPr>
          <a:xfrm>
            <a:off x="1430593" y="316995"/>
            <a:ext cx="9330813" cy="1325563"/>
          </a:xfrm>
        </p:spPr>
        <p:txBody>
          <a:bodyPr>
            <a:normAutofit fontScale="90000"/>
          </a:bodyPr>
          <a:lstStyle/>
          <a:p>
            <a:r>
              <a:rPr lang="en-US" sz="3200" dirty="0">
                <a:latin typeface="Times New Roman" panose="02020603050405020304" pitchFamily="18" charset="0"/>
                <a:cs typeface="Times New Roman" panose="02020603050405020304" pitchFamily="18" charset="0"/>
              </a:rPr>
              <a:t>BLOCK DIAGRAM OF NETWORK VULNERABILITY ANALYSIS USING PACKET SNIFFING TOOL</a:t>
            </a:r>
            <a:endParaRPr lang="en-IN" sz="3200" dirty="0">
              <a:latin typeface="Times New Roman" panose="02020603050405020304" pitchFamily="18" charset="0"/>
              <a:cs typeface="Times New Roman" panose="02020603050405020304" pitchFamily="18" charset="0"/>
            </a:endParaRPr>
          </a:p>
        </p:txBody>
      </p:sp>
      <p:pic>
        <p:nvPicPr>
          <p:cNvPr id="5" name="Picture 4" descr="download.jpg">
            <a:extLst>
              <a:ext uri="{FF2B5EF4-FFF2-40B4-BE49-F238E27FC236}">
                <a16:creationId xmlns:a16="http://schemas.microsoft.com/office/drawing/2014/main" id="{9CAD0B2C-C6BA-3527-4A99-49B033D6DB9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0275" y="137652"/>
            <a:ext cx="1066365" cy="8421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descr="CEG Outlook">
            <a:extLst>
              <a:ext uri="{FF2B5EF4-FFF2-40B4-BE49-F238E27FC236}">
                <a16:creationId xmlns:a16="http://schemas.microsoft.com/office/drawing/2014/main" id="{F5CDDC8C-35E2-3E6E-71E3-085A23C552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5350"/>
          <a:stretch>
            <a:fillRect/>
          </a:stretch>
        </p:blipFill>
        <p:spPr bwMode="auto">
          <a:xfrm>
            <a:off x="11228438" y="205478"/>
            <a:ext cx="746198" cy="7064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Oval 7">
            <a:extLst>
              <a:ext uri="{FF2B5EF4-FFF2-40B4-BE49-F238E27FC236}">
                <a16:creationId xmlns:a16="http://schemas.microsoft.com/office/drawing/2014/main" id="{AE386D6E-4AF9-88B5-5524-163D0B1830F3}"/>
              </a:ext>
            </a:extLst>
          </p:cNvPr>
          <p:cNvSpPr/>
          <p:nvPr/>
        </p:nvSpPr>
        <p:spPr>
          <a:xfrm>
            <a:off x="407088" y="2075295"/>
            <a:ext cx="2047009" cy="1325562"/>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IoT Network (NS-3 Simulation)</a:t>
            </a:r>
            <a:endParaRPr lang="en-IN" dirty="0">
              <a:latin typeface="Times New Roman" panose="02020603050405020304" pitchFamily="18" charset="0"/>
              <a:cs typeface="Times New Roman" panose="02020603050405020304" pitchFamily="18" charset="0"/>
            </a:endParaRPr>
          </a:p>
        </p:txBody>
      </p:sp>
      <p:cxnSp>
        <p:nvCxnSpPr>
          <p:cNvPr id="10" name="Straight Arrow Connector 9">
            <a:extLst>
              <a:ext uri="{FF2B5EF4-FFF2-40B4-BE49-F238E27FC236}">
                <a16:creationId xmlns:a16="http://schemas.microsoft.com/office/drawing/2014/main" id="{6C2BBFCD-AC77-9447-689A-7BBEDCD7D0FE}"/>
              </a:ext>
            </a:extLst>
          </p:cNvPr>
          <p:cNvCxnSpPr>
            <a:cxnSpLocks/>
            <a:stCxn id="8" idx="6"/>
          </p:cNvCxnSpPr>
          <p:nvPr/>
        </p:nvCxnSpPr>
        <p:spPr>
          <a:xfrm>
            <a:off x="2454097" y="2738076"/>
            <a:ext cx="727364" cy="815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3" name="Rectangle 12">
            <a:extLst>
              <a:ext uri="{FF2B5EF4-FFF2-40B4-BE49-F238E27FC236}">
                <a16:creationId xmlns:a16="http://schemas.microsoft.com/office/drawing/2014/main" id="{65FA5107-E865-A726-84E1-9AD6BC7B68DF}"/>
              </a:ext>
            </a:extLst>
          </p:cNvPr>
          <p:cNvSpPr/>
          <p:nvPr/>
        </p:nvSpPr>
        <p:spPr>
          <a:xfrm>
            <a:off x="3183080" y="2124219"/>
            <a:ext cx="4260273" cy="1408043"/>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en-US" dirty="0">
                <a:latin typeface="Times New Roman" panose="02020603050405020304" pitchFamily="18" charset="0"/>
                <a:cs typeface="Times New Roman" panose="02020603050405020304" pitchFamily="18" charset="0"/>
              </a:rPr>
              <a:t> </a:t>
            </a:r>
            <a:r>
              <a:rPr lang="en-US" dirty="0">
                <a:solidFill>
                  <a:schemeClr val="accent1">
                    <a:lumMod val="50000"/>
                  </a:schemeClr>
                </a:solidFill>
                <a:latin typeface="Times New Roman" panose="02020603050405020304" pitchFamily="18" charset="0"/>
                <a:cs typeface="Times New Roman" panose="02020603050405020304" pitchFamily="18" charset="0"/>
              </a:rPr>
              <a:t>Data Collection</a:t>
            </a:r>
          </a:p>
          <a:p>
            <a:endParaRPr lang="en-US" dirty="0">
              <a:solidFill>
                <a:schemeClr val="accent1">
                  <a:lumMod val="50000"/>
                </a:schemeClr>
              </a:solidFill>
              <a:latin typeface="Times New Roman" panose="02020603050405020304" pitchFamily="18" charset="0"/>
              <a:cs typeface="Times New Roman" panose="02020603050405020304" pitchFamily="18" charset="0"/>
            </a:endParaRPr>
          </a:p>
          <a:p>
            <a:r>
              <a:rPr lang="en-US" dirty="0">
                <a:solidFill>
                  <a:schemeClr val="accent1">
                    <a:lumMod val="50000"/>
                  </a:schemeClr>
                </a:solidFill>
                <a:latin typeface="Times New Roman" panose="02020603050405020304" pitchFamily="18" charset="0"/>
                <a:cs typeface="Times New Roman" panose="02020603050405020304" pitchFamily="18" charset="0"/>
              </a:rPr>
              <a:t>  XML files to           Obtain CSV files of </a:t>
            </a:r>
          </a:p>
          <a:p>
            <a:r>
              <a:rPr lang="en-US" dirty="0">
                <a:solidFill>
                  <a:schemeClr val="accent1">
                    <a:lumMod val="50000"/>
                  </a:schemeClr>
                </a:solidFill>
                <a:latin typeface="Times New Roman" panose="02020603050405020304" pitchFamily="18" charset="0"/>
                <a:cs typeface="Times New Roman" panose="02020603050405020304" pitchFamily="18" charset="0"/>
              </a:rPr>
              <a:t>         CSV              various network attacks</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15" name="Rectangle: Rounded Corners 14">
            <a:extLst>
              <a:ext uri="{FF2B5EF4-FFF2-40B4-BE49-F238E27FC236}">
                <a16:creationId xmlns:a16="http://schemas.microsoft.com/office/drawing/2014/main" id="{8EAAD00A-ACC9-04BF-074F-577609A6395A}"/>
              </a:ext>
            </a:extLst>
          </p:cNvPr>
          <p:cNvSpPr/>
          <p:nvPr/>
        </p:nvSpPr>
        <p:spPr>
          <a:xfrm>
            <a:off x="3273135" y="2251789"/>
            <a:ext cx="1537856" cy="378549"/>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4E928D1F-DD4D-4D22-7FAC-A514897DC93B}"/>
              </a:ext>
            </a:extLst>
          </p:cNvPr>
          <p:cNvSpPr/>
          <p:nvPr/>
        </p:nvSpPr>
        <p:spPr>
          <a:xfrm>
            <a:off x="3317351" y="2774371"/>
            <a:ext cx="1444336" cy="613857"/>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18" name="Rectangle: Rounded Corners 17">
            <a:extLst>
              <a:ext uri="{FF2B5EF4-FFF2-40B4-BE49-F238E27FC236}">
                <a16:creationId xmlns:a16="http://schemas.microsoft.com/office/drawing/2014/main" id="{5011B4D3-4FBC-824D-3A91-4792F604D5DE}"/>
              </a:ext>
            </a:extLst>
          </p:cNvPr>
          <p:cNvSpPr/>
          <p:nvPr/>
        </p:nvSpPr>
        <p:spPr>
          <a:xfrm>
            <a:off x="4990288" y="2766614"/>
            <a:ext cx="2348346" cy="654627"/>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0" name="Rectangle 19">
            <a:extLst>
              <a:ext uri="{FF2B5EF4-FFF2-40B4-BE49-F238E27FC236}">
                <a16:creationId xmlns:a16="http://schemas.microsoft.com/office/drawing/2014/main" id="{A681A97D-228F-AD67-1AAF-E140FC32319D}"/>
              </a:ext>
            </a:extLst>
          </p:cNvPr>
          <p:cNvSpPr/>
          <p:nvPr/>
        </p:nvSpPr>
        <p:spPr>
          <a:xfrm>
            <a:off x="7942117" y="2124219"/>
            <a:ext cx="3945083" cy="2323090"/>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p>
          <a:p>
            <a:r>
              <a:rPr lang="en-US" dirty="0">
                <a:solidFill>
                  <a:schemeClr val="accent1">
                    <a:lumMod val="50000"/>
                  </a:schemeClr>
                </a:solidFill>
                <a:latin typeface="Times New Roman" panose="02020603050405020304" pitchFamily="18" charset="0"/>
                <a:cs typeface="Times New Roman" panose="02020603050405020304" pitchFamily="18" charset="0"/>
              </a:rPr>
              <a:t>Data Preprocessing</a:t>
            </a:r>
          </a:p>
          <a:p>
            <a:endParaRPr lang="en-US" dirty="0">
              <a:solidFill>
                <a:schemeClr val="accent1">
                  <a:lumMod val="50000"/>
                </a:schemeClr>
              </a:solidFill>
              <a:latin typeface="Times New Roman" panose="02020603050405020304" pitchFamily="18" charset="0"/>
              <a:cs typeface="Times New Roman" panose="02020603050405020304" pitchFamily="18" charset="0"/>
            </a:endParaRPr>
          </a:p>
          <a:p>
            <a:r>
              <a:rPr lang="en-US" dirty="0">
                <a:solidFill>
                  <a:schemeClr val="accent1">
                    <a:lumMod val="50000"/>
                  </a:schemeClr>
                </a:solidFill>
                <a:latin typeface="Times New Roman" panose="02020603050405020304" pitchFamily="18" charset="0"/>
                <a:cs typeface="Times New Roman" panose="02020603050405020304" pitchFamily="18" charset="0"/>
              </a:rPr>
              <a:t>   Dynamic          Generative-Adversarial </a:t>
            </a:r>
          </a:p>
          <a:p>
            <a:r>
              <a:rPr lang="en-US" dirty="0">
                <a:solidFill>
                  <a:schemeClr val="accent1">
                    <a:lumMod val="50000"/>
                  </a:schemeClr>
                </a:solidFill>
                <a:latin typeface="Times New Roman" panose="02020603050405020304" pitchFamily="18" charset="0"/>
                <a:cs typeface="Times New Roman" panose="02020603050405020304" pitchFamily="18" charset="0"/>
              </a:rPr>
              <a:t>    Testing                       Scenarios</a:t>
            </a:r>
          </a:p>
          <a:p>
            <a:endParaRPr lang="en-US" dirty="0">
              <a:solidFill>
                <a:schemeClr val="accent1">
                  <a:lumMod val="50000"/>
                </a:schemeClr>
              </a:solidFill>
              <a:latin typeface="Times New Roman" panose="02020603050405020304" pitchFamily="18" charset="0"/>
              <a:cs typeface="Times New Roman" panose="02020603050405020304" pitchFamily="18" charset="0"/>
            </a:endParaRPr>
          </a:p>
          <a:p>
            <a:r>
              <a:rPr lang="en-US" dirty="0">
                <a:solidFill>
                  <a:schemeClr val="accent1">
                    <a:lumMod val="50000"/>
                  </a:schemeClr>
                </a:solidFill>
                <a:latin typeface="Times New Roman" panose="02020603050405020304" pitchFamily="18" charset="0"/>
                <a:cs typeface="Times New Roman" panose="02020603050405020304" pitchFamily="18" charset="0"/>
              </a:rPr>
              <a:t>  </a:t>
            </a:r>
          </a:p>
          <a:p>
            <a:r>
              <a:rPr lang="en-US" dirty="0">
                <a:solidFill>
                  <a:schemeClr val="accent1">
                    <a:lumMod val="50000"/>
                  </a:schemeClr>
                </a:solidFill>
                <a:latin typeface="Times New Roman" panose="02020603050405020304" pitchFamily="18" charset="0"/>
                <a:cs typeface="Times New Roman" panose="02020603050405020304" pitchFamily="18" charset="0"/>
              </a:rPr>
              <a:t>  Enhance Training Data</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21" name="Rectangle: Rounded Corners 20">
            <a:extLst>
              <a:ext uri="{FF2B5EF4-FFF2-40B4-BE49-F238E27FC236}">
                <a16:creationId xmlns:a16="http://schemas.microsoft.com/office/drawing/2014/main" id="{070E5538-D8AE-9789-5A02-FFB11DDF1C27}"/>
              </a:ext>
            </a:extLst>
          </p:cNvPr>
          <p:cNvSpPr/>
          <p:nvPr/>
        </p:nvSpPr>
        <p:spPr>
          <a:xfrm>
            <a:off x="8009656" y="2251788"/>
            <a:ext cx="1934444" cy="378550"/>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2" name="Rectangle: Rounded Corners 21">
            <a:extLst>
              <a:ext uri="{FF2B5EF4-FFF2-40B4-BE49-F238E27FC236}">
                <a16:creationId xmlns:a16="http://schemas.microsoft.com/office/drawing/2014/main" id="{CA16E31D-EBB0-AE3B-5C00-49B8AFE1996C}"/>
              </a:ext>
            </a:extLst>
          </p:cNvPr>
          <p:cNvSpPr/>
          <p:nvPr/>
        </p:nvSpPr>
        <p:spPr>
          <a:xfrm>
            <a:off x="8076388" y="2774371"/>
            <a:ext cx="1174173" cy="903215"/>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3" name="Rectangle: Rounded Corners 22">
            <a:extLst>
              <a:ext uri="{FF2B5EF4-FFF2-40B4-BE49-F238E27FC236}">
                <a16:creationId xmlns:a16="http://schemas.microsoft.com/office/drawing/2014/main" id="{963C0B1E-2EF1-3C45-41DF-C6FA0BE8F90E}"/>
              </a:ext>
            </a:extLst>
          </p:cNvPr>
          <p:cNvSpPr/>
          <p:nvPr/>
        </p:nvSpPr>
        <p:spPr>
          <a:xfrm>
            <a:off x="9576842" y="2752313"/>
            <a:ext cx="2204494" cy="903215"/>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717577CA-640C-E926-BBCF-992407DCF87F}"/>
              </a:ext>
            </a:extLst>
          </p:cNvPr>
          <p:cNvSpPr/>
          <p:nvPr/>
        </p:nvSpPr>
        <p:spPr>
          <a:xfrm>
            <a:off x="8076388" y="3842606"/>
            <a:ext cx="2204494" cy="529913"/>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25" name="Straight Arrow Connector 24">
            <a:extLst>
              <a:ext uri="{FF2B5EF4-FFF2-40B4-BE49-F238E27FC236}">
                <a16:creationId xmlns:a16="http://schemas.microsoft.com/office/drawing/2014/main" id="{A37F6349-D315-4D59-A852-9806EC73F20E}"/>
              </a:ext>
            </a:extLst>
          </p:cNvPr>
          <p:cNvCxnSpPr>
            <a:cxnSpLocks/>
          </p:cNvCxnSpPr>
          <p:nvPr/>
        </p:nvCxnSpPr>
        <p:spPr>
          <a:xfrm>
            <a:off x="7429500" y="2850749"/>
            <a:ext cx="51261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a:extLst>
              <a:ext uri="{FF2B5EF4-FFF2-40B4-BE49-F238E27FC236}">
                <a16:creationId xmlns:a16="http://schemas.microsoft.com/office/drawing/2014/main" id="{89DDD6D2-B09F-66DB-E6CB-DEB83ECD8D90}"/>
              </a:ext>
            </a:extLst>
          </p:cNvPr>
          <p:cNvCxnSpPr>
            <a:cxnSpLocks/>
          </p:cNvCxnSpPr>
          <p:nvPr/>
        </p:nvCxnSpPr>
        <p:spPr>
          <a:xfrm>
            <a:off x="9763178" y="4447309"/>
            <a:ext cx="0" cy="36385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F024011F-9B97-47BD-5326-720B0FF566BE}"/>
              </a:ext>
            </a:extLst>
          </p:cNvPr>
          <p:cNvSpPr/>
          <p:nvPr/>
        </p:nvSpPr>
        <p:spPr>
          <a:xfrm>
            <a:off x="7579944" y="4811166"/>
            <a:ext cx="4260273" cy="147533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en-US" dirty="0">
                <a:solidFill>
                  <a:schemeClr val="accent1">
                    <a:lumMod val="50000"/>
                  </a:schemeClr>
                </a:solidFill>
                <a:latin typeface="Times New Roman" panose="02020603050405020304" pitchFamily="18" charset="0"/>
                <a:cs typeface="Times New Roman" panose="02020603050405020304" pitchFamily="18" charset="0"/>
              </a:rPr>
              <a:t>Model Training (GNN)</a:t>
            </a:r>
          </a:p>
          <a:p>
            <a:endParaRPr lang="en-US" dirty="0">
              <a:solidFill>
                <a:schemeClr val="accent1">
                  <a:lumMod val="50000"/>
                </a:schemeClr>
              </a:solidFill>
              <a:latin typeface="Times New Roman" panose="02020603050405020304" pitchFamily="18" charset="0"/>
              <a:cs typeface="Times New Roman" panose="02020603050405020304" pitchFamily="18" charset="0"/>
            </a:endParaRPr>
          </a:p>
          <a:p>
            <a:r>
              <a:rPr lang="en-US" dirty="0">
                <a:solidFill>
                  <a:schemeClr val="accent1">
                    <a:lumMod val="50000"/>
                  </a:schemeClr>
                </a:solidFill>
                <a:latin typeface="Times New Roman" panose="02020603050405020304" pitchFamily="18" charset="0"/>
                <a:cs typeface="Times New Roman" panose="02020603050405020304" pitchFamily="18" charset="0"/>
              </a:rPr>
              <a:t>  Train on processed     Obtain Performance </a:t>
            </a:r>
          </a:p>
          <a:p>
            <a:r>
              <a:rPr lang="en-US" dirty="0">
                <a:solidFill>
                  <a:schemeClr val="accent1">
                    <a:lumMod val="50000"/>
                  </a:schemeClr>
                </a:solidFill>
                <a:latin typeface="Times New Roman" panose="02020603050405020304" pitchFamily="18" charset="0"/>
                <a:cs typeface="Times New Roman" panose="02020603050405020304" pitchFamily="18" charset="0"/>
              </a:rPr>
              <a:t>          dataset                          Metrics</a:t>
            </a:r>
          </a:p>
          <a:p>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32" name="Rectangle: Rounded Corners 31">
            <a:extLst>
              <a:ext uri="{FF2B5EF4-FFF2-40B4-BE49-F238E27FC236}">
                <a16:creationId xmlns:a16="http://schemas.microsoft.com/office/drawing/2014/main" id="{9C116FD6-6080-8C2E-0112-795F06DABC73}"/>
              </a:ext>
            </a:extLst>
          </p:cNvPr>
          <p:cNvSpPr/>
          <p:nvPr/>
        </p:nvSpPr>
        <p:spPr>
          <a:xfrm>
            <a:off x="7669998" y="4938736"/>
            <a:ext cx="2274101" cy="378549"/>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3" name="Rectangle: Rounded Corners 32">
            <a:extLst>
              <a:ext uri="{FF2B5EF4-FFF2-40B4-BE49-F238E27FC236}">
                <a16:creationId xmlns:a16="http://schemas.microsoft.com/office/drawing/2014/main" id="{1186952E-61B0-D17D-86D7-4913F18AD1C2}"/>
              </a:ext>
            </a:extLst>
          </p:cNvPr>
          <p:cNvSpPr/>
          <p:nvPr/>
        </p:nvSpPr>
        <p:spPr>
          <a:xfrm>
            <a:off x="7685808" y="5461318"/>
            <a:ext cx="1862627" cy="654627"/>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4" name="Rectangle: Rounded Corners 33">
            <a:extLst>
              <a:ext uri="{FF2B5EF4-FFF2-40B4-BE49-F238E27FC236}">
                <a16:creationId xmlns:a16="http://schemas.microsoft.com/office/drawing/2014/main" id="{9FFB67B7-F22B-2B90-37DE-F5906CB6E481}"/>
              </a:ext>
            </a:extLst>
          </p:cNvPr>
          <p:cNvSpPr/>
          <p:nvPr/>
        </p:nvSpPr>
        <p:spPr>
          <a:xfrm>
            <a:off x="9763178" y="5461318"/>
            <a:ext cx="1926595" cy="654627"/>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5" name="Rectangle 34">
            <a:extLst>
              <a:ext uri="{FF2B5EF4-FFF2-40B4-BE49-F238E27FC236}">
                <a16:creationId xmlns:a16="http://schemas.microsoft.com/office/drawing/2014/main" id="{B955D9FC-B208-5455-FB52-5208E61A1ED8}"/>
              </a:ext>
            </a:extLst>
          </p:cNvPr>
          <p:cNvSpPr/>
          <p:nvPr/>
        </p:nvSpPr>
        <p:spPr>
          <a:xfrm>
            <a:off x="2860151" y="4811166"/>
            <a:ext cx="4260273" cy="1475332"/>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a:t>
            </a:r>
            <a:r>
              <a:rPr lang="en-US" dirty="0">
                <a:solidFill>
                  <a:schemeClr val="accent1">
                    <a:lumMod val="50000"/>
                  </a:schemeClr>
                </a:solidFill>
                <a:latin typeface="Times New Roman" panose="02020603050405020304" pitchFamily="18" charset="0"/>
                <a:cs typeface="Times New Roman" panose="02020603050405020304" pitchFamily="18" charset="0"/>
              </a:rPr>
              <a:t>Attack Detection</a:t>
            </a:r>
          </a:p>
          <a:p>
            <a:endParaRPr lang="en-US" dirty="0">
              <a:solidFill>
                <a:schemeClr val="accent1">
                  <a:lumMod val="50000"/>
                </a:schemeClr>
              </a:solidFill>
              <a:latin typeface="Times New Roman" panose="02020603050405020304" pitchFamily="18" charset="0"/>
              <a:cs typeface="Times New Roman" panose="02020603050405020304" pitchFamily="18" charset="0"/>
            </a:endParaRPr>
          </a:p>
          <a:p>
            <a:r>
              <a:rPr lang="en-US" dirty="0">
                <a:solidFill>
                  <a:schemeClr val="accent1">
                    <a:lumMod val="50000"/>
                  </a:schemeClr>
                </a:solidFill>
                <a:latin typeface="Times New Roman" panose="02020603050405020304" pitchFamily="18" charset="0"/>
                <a:cs typeface="Times New Roman" panose="02020603050405020304" pitchFamily="18" charset="0"/>
              </a:rPr>
              <a:t>         Model                    Detect Malicious</a:t>
            </a:r>
          </a:p>
          <a:p>
            <a:r>
              <a:rPr lang="en-US" dirty="0">
                <a:solidFill>
                  <a:schemeClr val="accent1">
                    <a:lumMod val="50000"/>
                  </a:schemeClr>
                </a:solidFill>
                <a:latin typeface="Times New Roman" panose="02020603050405020304" pitchFamily="18" charset="0"/>
                <a:cs typeface="Times New Roman" panose="02020603050405020304" pitchFamily="18" charset="0"/>
              </a:rPr>
              <a:t>       Inference                       IoT nodes</a:t>
            </a:r>
          </a:p>
          <a:p>
            <a:r>
              <a:rPr lang="en-US" dirty="0">
                <a:solidFill>
                  <a:schemeClr val="accent1">
                    <a:lumMod val="50000"/>
                  </a:schemeClr>
                </a:solidFill>
                <a:latin typeface="Times New Roman" panose="02020603050405020304" pitchFamily="18" charset="0"/>
                <a:cs typeface="Times New Roman" panose="02020603050405020304" pitchFamily="18" charset="0"/>
              </a:rPr>
              <a:t> </a:t>
            </a:r>
            <a:endParaRPr lang="en-IN"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6" name="Rectangle: Rounded Corners 35">
            <a:extLst>
              <a:ext uri="{FF2B5EF4-FFF2-40B4-BE49-F238E27FC236}">
                <a16:creationId xmlns:a16="http://schemas.microsoft.com/office/drawing/2014/main" id="{4A76F05F-75C1-9C29-1E2F-2CAE7B33E984}"/>
              </a:ext>
            </a:extLst>
          </p:cNvPr>
          <p:cNvSpPr/>
          <p:nvPr/>
        </p:nvSpPr>
        <p:spPr>
          <a:xfrm>
            <a:off x="2950205" y="4938736"/>
            <a:ext cx="2274101" cy="378549"/>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ED9F9D44-7994-DDCD-6F52-167738B7E8DD}"/>
              </a:ext>
            </a:extLst>
          </p:cNvPr>
          <p:cNvSpPr/>
          <p:nvPr/>
        </p:nvSpPr>
        <p:spPr>
          <a:xfrm>
            <a:off x="2966015" y="5461318"/>
            <a:ext cx="1862627" cy="654627"/>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76565F13-2E87-9BFA-8F5D-4AC760C768F4}"/>
              </a:ext>
            </a:extLst>
          </p:cNvPr>
          <p:cNvSpPr/>
          <p:nvPr/>
        </p:nvSpPr>
        <p:spPr>
          <a:xfrm>
            <a:off x="5043385" y="5461318"/>
            <a:ext cx="1926595" cy="654627"/>
          </a:xfrm>
          <a:prstGeom prst="round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39" name="Straight Arrow Connector 38">
            <a:extLst>
              <a:ext uri="{FF2B5EF4-FFF2-40B4-BE49-F238E27FC236}">
                <a16:creationId xmlns:a16="http://schemas.microsoft.com/office/drawing/2014/main" id="{BB7E625C-A019-FEE6-FD53-A4CE5B72E9D3}"/>
              </a:ext>
            </a:extLst>
          </p:cNvPr>
          <p:cNvCxnSpPr>
            <a:cxnSpLocks/>
          </p:cNvCxnSpPr>
          <p:nvPr/>
        </p:nvCxnSpPr>
        <p:spPr>
          <a:xfrm flipH="1" flipV="1">
            <a:off x="7120424" y="5461318"/>
            <a:ext cx="494521" cy="60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060CA80B-88F5-C244-CAA9-F0A95DA3C846}"/>
              </a:ext>
            </a:extLst>
          </p:cNvPr>
          <p:cNvCxnSpPr>
            <a:cxnSpLocks/>
          </p:cNvCxnSpPr>
          <p:nvPr/>
        </p:nvCxnSpPr>
        <p:spPr>
          <a:xfrm>
            <a:off x="5043385" y="4394643"/>
            <a:ext cx="0" cy="41652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8" name="Oval 47">
            <a:extLst>
              <a:ext uri="{FF2B5EF4-FFF2-40B4-BE49-F238E27FC236}">
                <a16:creationId xmlns:a16="http://schemas.microsoft.com/office/drawing/2014/main" id="{2FC6AA4A-335D-13D1-AE37-B179A9D2C9F0}"/>
              </a:ext>
            </a:extLst>
          </p:cNvPr>
          <p:cNvSpPr/>
          <p:nvPr/>
        </p:nvSpPr>
        <p:spPr>
          <a:xfrm>
            <a:off x="502227" y="4395367"/>
            <a:ext cx="1926594" cy="1860141"/>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Times New Roman" panose="02020603050405020304" pitchFamily="18" charset="0"/>
                <a:cs typeface="Times New Roman" panose="02020603050405020304" pitchFamily="18" charset="0"/>
              </a:rPr>
              <a:t>Compare the performance metrics for GNN and DDQN</a:t>
            </a:r>
            <a:endParaRPr lang="en-IN" dirty="0">
              <a:latin typeface="Times New Roman" panose="02020603050405020304" pitchFamily="18" charset="0"/>
              <a:cs typeface="Times New Roman" panose="02020603050405020304" pitchFamily="18" charset="0"/>
            </a:endParaRPr>
          </a:p>
        </p:txBody>
      </p:sp>
      <p:cxnSp>
        <p:nvCxnSpPr>
          <p:cNvPr id="49" name="Straight Arrow Connector 48">
            <a:extLst>
              <a:ext uri="{FF2B5EF4-FFF2-40B4-BE49-F238E27FC236}">
                <a16:creationId xmlns:a16="http://schemas.microsoft.com/office/drawing/2014/main" id="{AA954F66-696D-201E-08C3-40CA612D7FE9}"/>
              </a:ext>
            </a:extLst>
          </p:cNvPr>
          <p:cNvCxnSpPr>
            <a:cxnSpLocks/>
          </p:cNvCxnSpPr>
          <p:nvPr/>
        </p:nvCxnSpPr>
        <p:spPr>
          <a:xfrm flipH="1">
            <a:off x="2428821" y="5213376"/>
            <a:ext cx="43376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56" name="TextBox 55">
            <a:extLst>
              <a:ext uri="{FF2B5EF4-FFF2-40B4-BE49-F238E27FC236}">
                <a16:creationId xmlns:a16="http://schemas.microsoft.com/office/drawing/2014/main" id="{EDED5F29-3AFA-17F7-6C11-DCF4D5E23B9C}"/>
              </a:ext>
            </a:extLst>
          </p:cNvPr>
          <p:cNvSpPr txBox="1"/>
          <p:nvPr/>
        </p:nvSpPr>
        <p:spPr>
          <a:xfrm>
            <a:off x="3317351" y="3735862"/>
            <a:ext cx="3706903" cy="646331"/>
          </a:xfrm>
          <a:prstGeom prst="rect">
            <a:avLst/>
          </a:prstGeom>
          <a:noFill/>
        </p:spPr>
        <p:txBody>
          <a:bodyPr wrap="square">
            <a:spAutoFit/>
          </a:bodyPr>
          <a:lstStyle/>
          <a:p>
            <a:pPr algn="ctr"/>
            <a:r>
              <a:rPr lang="en-US" dirty="0">
                <a:latin typeface="Times New Roman" panose="02020603050405020304" pitchFamily="18" charset="0"/>
                <a:cs typeface="Times New Roman" panose="02020603050405020304" pitchFamily="18" charset="0"/>
              </a:rPr>
              <a:t>Get already developed DDQN model and train on NS-3 simulated dataset</a:t>
            </a:r>
            <a:endParaRPr lang="en-IN" dirty="0">
              <a:latin typeface="Times New Roman" panose="02020603050405020304" pitchFamily="18" charset="0"/>
              <a:cs typeface="Times New Roman" panose="02020603050405020304" pitchFamily="18" charset="0"/>
            </a:endParaRPr>
          </a:p>
        </p:txBody>
      </p:sp>
      <p:sp>
        <p:nvSpPr>
          <p:cNvPr id="57" name="Rectangle 56">
            <a:extLst>
              <a:ext uri="{FF2B5EF4-FFF2-40B4-BE49-F238E27FC236}">
                <a16:creationId xmlns:a16="http://schemas.microsoft.com/office/drawing/2014/main" id="{6E8456A1-243F-1434-D3C8-B57DC7059BD8}"/>
              </a:ext>
            </a:extLst>
          </p:cNvPr>
          <p:cNvSpPr/>
          <p:nvPr/>
        </p:nvSpPr>
        <p:spPr>
          <a:xfrm>
            <a:off x="3273135" y="3748312"/>
            <a:ext cx="3847289" cy="646331"/>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endParaRPr lang="en-IN"/>
          </a:p>
        </p:txBody>
      </p:sp>
      <p:cxnSp>
        <p:nvCxnSpPr>
          <p:cNvPr id="62" name="Straight Arrow Connector 61">
            <a:extLst>
              <a:ext uri="{FF2B5EF4-FFF2-40B4-BE49-F238E27FC236}">
                <a16:creationId xmlns:a16="http://schemas.microsoft.com/office/drawing/2014/main" id="{AA2438C4-FD48-BB9F-8514-A0E17E0614E3}"/>
              </a:ext>
            </a:extLst>
          </p:cNvPr>
          <p:cNvCxnSpPr>
            <a:cxnSpLocks/>
          </p:cNvCxnSpPr>
          <p:nvPr/>
        </p:nvCxnSpPr>
        <p:spPr>
          <a:xfrm flipH="1">
            <a:off x="2426385" y="5461318"/>
            <a:ext cx="43376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150367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28151250-66F2-593A-821B-4CE7D5A23BFC}"/>
              </a:ext>
            </a:extLst>
          </p:cNvPr>
          <p:cNvSpPr>
            <a:spLocks noGrp="1"/>
          </p:cNvSpPr>
          <p:nvPr>
            <p:ph type="title"/>
          </p:nvPr>
        </p:nvSpPr>
        <p:spPr>
          <a:xfrm>
            <a:off x="1517515" y="398463"/>
            <a:ext cx="8693285" cy="796925"/>
          </a:xfrm>
        </p:spPr>
        <p:txBody>
          <a:bodyPr>
            <a:normAutofit/>
          </a:bodyPr>
          <a:lstStyle/>
          <a:p>
            <a:r>
              <a:rPr lang="en-US" altLang="en-US" sz="4000" dirty="0">
                <a:latin typeface="Times New Roman"/>
                <a:cs typeface="Times New Roman"/>
              </a:rPr>
              <a:t>WORK</a:t>
            </a:r>
            <a:r>
              <a:rPr lang="en-US" altLang="en-US" sz="4000" dirty="0">
                <a:solidFill>
                  <a:srgbClr val="7030A0"/>
                </a:solidFill>
                <a:latin typeface="Times New Roman"/>
                <a:cs typeface="Times New Roman"/>
              </a:rPr>
              <a:t> </a:t>
            </a:r>
            <a:r>
              <a:rPr lang="en-US" altLang="en-US" sz="4000" dirty="0">
                <a:latin typeface="Times New Roman"/>
                <a:cs typeface="Times New Roman"/>
              </a:rPr>
              <a:t>PLAN</a:t>
            </a:r>
          </a:p>
        </p:txBody>
      </p:sp>
      <p:sp>
        <p:nvSpPr>
          <p:cNvPr id="8195" name="Content Placeholder 2">
            <a:extLst>
              <a:ext uri="{FF2B5EF4-FFF2-40B4-BE49-F238E27FC236}">
                <a16:creationId xmlns:a16="http://schemas.microsoft.com/office/drawing/2014/main" id="{8B793301-089A-0388-5320-30EDB0E9D856}"/>
              </a:ext>
            </a:extLst>
          </p:cNvPr>
          <p:cNvSpPr>
            <a:spLocks noGrp="1"/>
          </p:cNvSpPr>
          <p:nvPr>
            <p:ph idx="1"/>
          </p:nvPr>
        </p:nvSpPr>
        <p:spPr>
          <a:xfrm>
            <a:off x="526473" y="1192213"/>
            <a:ext cx="10827327" cy="5291138"/>
          </a:xfrm>
        </p:spPr>
        <p:txBody>
          <a:bodyPr vert="horz" lIns="91440" tIns="45720" rIns="91440" bIns="45720" rtlCol="0" anchor="t">
            <a:normAutofit/>
          </a:bodyPr>
          <a:lstStyle/>
          <a:p>
            <a:pPr algn="just">
              <a:buNone/>
            </a:pPr>
            <a:endParaRPr lang="en-US" b="1" dirty="0">
              <a:cs typeface="Calibri"/>
            </a:endParaRPr>
          </a:p>
          <a:p>
            <a:r>
              <a:rPr lang="en-US" sz="2400" b="1" dirty="0">
                <a:latin typeface="Times New Roman" panose="02020603050405020304" pitchFamily="18" charset="0"/>
                <a:ea typeface="+mn-lt"/>
                <a:cs typeface="Times New Roman" panose="02020603050405020304" pitchFamily="18" charset="0"/>
              </a:rPr>
              <a:t>0</a:t>
            </a:r>
            <a:r>
              <a:rPr lang="en-US" sz="2400" b="1" baseline="30000" dirty="0">
                <a:latin typeface="Times New Roman" panose="02020603050405020304" pitchFamily="18" charset="0"/>
                <a:ea typeface="+mn-lt"/>
                <a:cs typeface="Times New Roman" panose="02020603050405020304" pitchFamily="18" charset="0"/>
              </a:rPr>
              <a:t>th</a:t>
            </a:r>
            <a:r>
              <a:rPr lang="en-US" sz="2400" b="1" dirty="0">
                <a:latin typeface="Times New Roman" panose="02020603050405020304" pitchFamily="18" charset="0"/>
                <a:ea typeface="+mn-lt"/>
                <a:cs typeface="Times New Roman" panose="02020603050405020304" pitchFamily="18" charset="0"/>
              </a:rPr>
              <a:t>  Review:</a:t>
            </a:r>
            <a:r>
              <a:rPr lang="en-US" sz="2400" dirty="0">
                <a:latin typeface="Times New Roman" panose="02020603050405020304" pitchFamily="18" charset="0"/>
                <a:ea typeface="+mn-lt"/>
                <a:cs typeface="Times New Roman" panose="02020603050405020304" pitchFamily="18" charset="0"/>
              </a:rPr>
              <a:t> Discussed and finalized the project title as "</a:t>
            </a:r>
            <a:r>
              <a:rPr lang="en-IN" sz="2400" dirty="0">
                <a:latin typeface="Times New Roman" panose="02020603050405020304" pitchFamily="18" charset="0"/>
                <a:cs typeface="Times New Roman" panose="02020603050405020304" pitchFamily="18" charset="0"/>
              </a:rPr>
              <a:t>AI-Driven Dynamic Testing for IoT Device Security:   Detection of Network Attacks</a:t>
            </a:r>
            <a:r>
              <a:rPr lang="en-US" sz="2400" dirty="0">
                <a:latin typeface="Times New Roman" panose="02020603050405020304" pitchFamily="18" charset="0"/>
                <a:ea typeface="+mn-lt"/>
                <a:cs typeface="Times New Roman" panose="02020603050405020304" pitchFamily="18" charset="0"/>
              </a:rPr>
              <a:t>" on the basis of our previous work along with several research and survey papers.</a:t>
            </a:r>
          </a:p>
          <a:p>
            <a:pPr algn="l">
              <a:buFont typeface="Arial" panose="020B0604020202020204" pitchFamily="34" charset="0"/>
              <a:buChar char="•"/>
            </a:pPr>
            <a:r>
              <a:rPr lang="en-US" sz="2400" b="1" dirty="0">
                <a:latin typeface="Times New Roman" panose="02020603050405020304" pitchFamily="18" charset="0"/>
                <a:ea typeface="+mn-lt"/>
                <a:cs typeface="Times New Roman" panose="02020603050405020304" pitchFamily="18" charset="0"/>
              </a:rPr>
              <a:t>1</a:t>
            </a:r>
            <a:r>
              <a:rPr lang="en-US" sz="2400" b="1" baseline="30000" dirty="0">
                <a:latin typeface="Times New Roman" panose="02020603050405020304" pitchFamily="18" charset="0"/>
                <a:ea typeface="+mn-lt"/>
                <a:cs typeface="Times New Roman" panose="02020603050405020304" pitchFamily="18" charset="0"/>
              </a:rPr>
              <a:t>st</a:t>
            </a:r>
            <a:r>
              <a:rPr lang="en-US" sz="2400" b="1" dirty="0">
                <a:latin typeface="Times New Roman" panose="02020603050405020304" pitchFamily="18" charset="0"/>
                <a:ea typeface="+mn-lt"/>
                <a:cs typeface="Times New Roman" panose="02020603050405020304" pitchFamily="18" charset="0"/>
              </a:rPr>
              <a:t> Review: </a:t>
            </a:r>
            <a:r>
              <a:rPr lang="en-US" sz="2400" b="0" i="0" dirty="0">
                <a:effectLst/>
                <a:latin typeface="Times New Roman" panose="02020603050405020304" pitchFamily="18" charset="0"/>
                <a:cs typeface="Times New Roman" panose="02020603050405020304" pitchFamily="18" charset="0"/>
              </a:rPr>
              <a:t>Setup and configure </a:t>
            </a:r>
            <a:r>
              <a:rPr lang="en-US" sz="2400" dirty="0">
                <a:latin typeface="Times New Roman" panose="02020603050405020304" pitchFamily="18" charset="0"/>
                <a:cs typeface="Times New Roman" panose="02020603050405020304" pitchFamily="18" charset="0"/>
              </a:rPr>
              <a:t>a </a:t>
            </a:r>
            <a:r>
              <a:rPr lang="en-US" sz="2400" b="0" i="0" dirty="0">
                <a:effectLst/>
                <a:latin typeface="Times New Roman" panose="02020603050405020304" pitchFamily="18" charset="0"/>
                <a:cs typeface="Times New Roman" panose="02020603050405020304" pitchFamily="18" charset="0"/>
              </a:rPr>
              <a:t>network simulation tool such as NS-3 to emulate IoT environments and collect network traffic data from the simulations, generating the attack traffic for training.</a:t>
            </a:r>
          </a:p>
          <a:p>
            <a:r>
              <a:rPr lang="en-US" sz="2400" b="1" dirty="0">
                <a:latin typeface="Times New Roman" panose="02020603050405020304" pitchFamily="18" charset="0"/>
                <a:ea typeface="+mn-lt"/>
                <a:cs typeface="Times New Roman" panose="02020603050405020304" pitchFamily="18" charset="0"/>
              </a:rPr>
              <a:t>2</a:t>
            </a:r>
            <a:r>
              <a:rPr lang="en-US" sz="2400" b="1" baseline="30000" dirty="0">
                <a:latin typeface="Times New Roman" panose="02020603050405020304" pitchFamily="18" charset="0"/>
                <a:ea typeface="+mn-lt"/>
                <a:cs typeface="Times New Roman" panose="02020603050405020304" pitchFamily="18" charset="0"/>
              </a:rPr>
              <a:t>nd</a:t>
            </a:r>
            <a:r>
              <a:rPr lang="en-US" sz="2400" b="1" dirty="0">
                <a:latin typeface="Times New Roman" panose="02020603050405020304" pitchFamily="18" charset="0"/>
                <a:ea typeface="+mn-lt"/>
                <a:cs typeface="Times New Roman" panose="02020603050405020304" pitchFamily="18" charset="0"/>
              </a:rPr>
              <a:t> Review: </a:t>
            </a:r>
            <a:r>
              <a:rPr lang="en-US" sz="2400" dirty="0">
                <a:latin typeface="Times New Roman" panose="02020603050405020304" pitchFamily="18" charset="0"/>
                <a:ea typeface="+mn-lt"/>
                <a:cs typeface="Times New Roman" panose="02020603050405020304" pitchFamily="18" charset="0"/>
              </a:rPr>
              <a:t>Employ dynamic testing during pre-processing and t</a:t>
            </a:r>
            <a:r>
              <a:rPr lang="en-US" sz="2400" b="0" i="0" dirty="0">
                <a:effectLst/>
                <a:latin typeface="Times New Roman" panose="02020603050405020304" pitchFamily="18" charset="0"/>
                <a:cs typeface="Times New Roman" panose="02020603050405020304" pitchFamily="18" charset="0"/>
              </a:rPr>
              <a:t>rain the Graph Neural Network (GNN) model using the dataset generated </a:t>
            </a:r>
            <a:r>
              <a:rPr lang="en-US" sz="2400" dirty="0">
                <a:latin typeface="Times New Roman" panose="02020603050405020304" pitchFamily="18" charset="0"/>
                <a:cs typeface="Times New Roman" panose="02020603050405020304" pitchFamily="18" charset="0"/>
              </a:rPr>
              <a:t>using the network simulation tool</a:t>
            </a:r>
            <a:r>
              <a:rPr lang="en-US" sz="2400" b="0" i="0" dirty="0">
                <a:effectLst/>
                <a:latin typeface="Times New Roman" panose="02020603050405020304" pitchFamily="18" charset="0"/>
                <a:cs typeface="Times New Roman" panose="02020603050405020304" pitchFamily="18" charset="0"/>
              </a:rPr>
              <a:t>, focusing on improving detection accuracy.</a:t>
            </a:r>
          </a:p>
          <a:p>
            <a:r>
              <a:rPr lang="en-US" sz="2400" b="1" dirty="0">
                <a:latin typeface="Times New Roman" panose="02020603050405020304" pitchFamily="18" charset="0"/>
                <a:cs typeface="Times New Roman" panose="02020603050405020304" pitchFamily="18" charset="0"/>
              </a:rPr>
              <a:t>3</a:t>
            </a:r>
            <a:r>
              <a:rPr lang="en-US" sz="2400" b="1" baseline="30000" dirty="0">
                <a:latin typeface="Times New Roman" panose="02020603050405020304" pitchFamily="18" charset="0"/>
                <a:cs typeface="Times New Roman" panose="02020603050405020304" pitchFamily="18" charset="0"/>
              </a:rPr>
              <a:t>rd</a:t>
            </a:r>
            <a:r>
              <a:rPr lang="en-US" sz="2400" b="1" dirty="0">
                <a:latin typeface="Times New Roman" panose="02020603050405020304" pitchFamily="18" charset="0"/>
                <a:cs typeface="Times New Roman" panose="02020603050405020304" pitchFamily="18" charset="0"/>
              </a:rPr>
              <a:t> Review</a:t>
            </a:r>
            <a:r>
              <a:rPr lang="en-US" sz="2400" dirty="0">
                <a:latin typeface="Times New Roman" panose="02020603050405020304" pitchFamily="18" charset="0"/>
                <a:cs typeface="Times New Roman" panose="02020603050405020304" pitchFamily="18" charset="0"/>
              </a:rPr>
              <a:t>: Provide comparative results between the GNN and the DDQN model developed in our previous work.</a:t>
            </a:r>
            <a:endParaRPr lang="en-US" sz="2000" b="1" dirty="0">
              <a:latin typeface="Times New Roman" panose="02020603050405020304" pitchFamily="18" charset="0"/>
              <a:ea typeface="+mn-lt"/>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6156B862-DD7B-A15C-2A85-C1923EBFF6B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fld id="{F52FEC04-FE7D-450C-8039-63C66DC928F9}" type="slidenum">
              <a:rPr lang="en-US" altLang="en-US">
                <a:solidFill>
                  <a:srgbClr val="898989"/>
                </a:solidFill>
                <a:latin typeface="Calibri" panose="020F0502020204030204" pitchFamily="34" charset="0"/>
              </a:rPr>
              <a:pPr eaLnBrk="1" hangingPunct="1"/>
              <a:t>12</a:t>
            </a:fld>
            <a:endParaRPr lang="en-US" altLang="en-US">
              <a:solidFill>
                <a:srgbClr val="898989"/>
              </a:solidFill>
              <a:latin typeface="Calibri" panose="020F0502020204030204" pitchFamily="34" charset="0"/>
            </a:endParaRPr>
          </a:p>
        </p:txBody>
      </p:sp>
      <p:pic>
        <p:nvPicPr>
          <p:cNvPr id="8199" name="Picture 2" descr="CEG Outlook">
            <a:extLst>
              <a:ext uri="{FF2B5EF4-FFF2-40B4-BE49-F238E27FC236}">
                <a16:creationId xmlns:a16="http://schemas.microsoft.com/office/drawing/2014/main" id="{BDFEF050-672C-5933-54A5-C286F7961F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5350"/>
          <a:stretch>
            <a:fillRect/>
          </a:stretch>
        </p:blipFill>
        <p:spPr bwMode="auto">
          <a:xfrm>
            <a:off x="11047379" y="274639"/>
            <a:ext cx="1103312" cy="104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6" descr="download.jpg">
            <a:extLst>
              <a:ext uri="{FF2B5EF4-FFF2-40B4-BE49-F238E27FC236}">
                <a16:creationId xmlns:a16="http://schemas.microsoft.com/office/drawing/2014/main" id="{F98D796E-E07C-0CC7-CD9D-2678800EBB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2877" y="274639"/>
            <a:ext cx="138906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1397E-8D6B-B7E2-5170-6D5453763023}"/>
              </a:ext>
            </a:extLst>
          </p:cNvPr>
          <p:cNvSpPr>
            <a:spLocks noGrp="1"/>
          </p:cNvSpPr>
          <p:nvPr>
            <p:ph type="title"/>
          </p:nvPr>
        </p:nvSpPr>
        <p:spPr>
          <a:xfrm>
            <a:off x="838200" y="188144"/>
            <a:ext cx="10515600" cy="1325563"/>
          </a:xfrm>
        </p:spPr>
        <p:txBody>
          <a:bodyPr>
            <a:normAutofit/>
          </a:bodyPr>
          <a:lstStyle/>
          <a:p>
            <a:r>
              <a:rPr lang="en-US" sz="4000"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C96F6460-FADE-271B-3F6B-2F0085C80FB5}"/>
              </a:ext>
            </a:extLst>
          </p:cNvPr>
          <p:cNvSpPr>
            <a:spLocks noGrp="1"/>
          </p:cNvSpPr>
          <p:nvPr>
            <p:ph idx="1"/>
          </p:nvPr>
        </p:nvSpPr>
        <p:spPr>
          <a:xfrm>
            <a:off x="759542" y="1324180"/>
            <a:ext cx="10515600" cy="4351338"/>
          </a:xfrm>
        </p:spPr>
        <p:txBody>
          <a:bodyPr vert="horz" lIns="91440" tIns="45720" rIns="91440" bIns="45720" rtlCol="0" anchor="t">
            <a:noAutofit/>
          </a:bodyPr>
          <a:lstStyle/>
          <a:p>
            <a:pPr>
              <a:lnSpc>
                <a:spcPct val="150000"/>
              </a:lnSpc>
              <a:buFont typeface="Wingdings" panose="05000000000000000000" pitchFamily="2" charset="2"/>
              <a:buChar char="q"/>
            </a:pPr>
            <a:r>
              <a:rPr lang="en-US" sz="1500" b="1" dirty="0">
                <a:latin typeface="Times New Roman"/>
                <a:cs typeface="Times New Roman"/>
              </a:rPr>
              <a:t>Diego Abreu; Antonio </a:t>
            </a:r>
            <a:r>
              <a:rPr lang="en-US" sz="1500" b="1" dirty="0" err="1">
                <a:latin typeface="Times New Roman"/>
                <a:cs typeface="Times New Roman"/>
              </a:rPr>
              <a:t>Abelém</a:t>
            </a:r>
            <a:r>
              <a:rPr lang="en-US" sz="1500" dirty="0">
                <a:latin typeface="Times New Roman"/>
                <a:cs typeface="Times New Roman"/>
              </a:rPr>
              <a:t>, "Online </a:t>
            </a:r>
            <a:r>
              <a:rPr lang="en-US" sz="1500" dirty="0" err="1">
                <a:latin typeface="Times New Roman"/>
                <a:cs typeface="Times New Roman"/>
              </a:rPr>
              <a:t>Ml</a:t>
            </a:r>
            <a:r>
              <a:rPr lang="en-US" sz="1500" dirty="0">
                <a:latin typeface="Times New Roman"/>
                <a:cs typeface="Times New Roman"/>
              </a:rPr>
              <a:t>-based </a:t>
            </a:r>
            <a:r>
              <a:rPr lang="en-US" sz="1500" dirty="0" err="1">
                <a:latin typeface="Times New Roman"/>
                <a:cs typeface="Times New Roman"/>
              </a:rPr>
              <a:t>Iot</a:t>
            </a:r>
            <a:r>
              <a:rPr lang="en-US" sz="1500" dirty="0">
                <a:latin typeface="Times New Roman"/>
                <a:cs typeface="Times New Roman"/>
              </a:rPr>
              <a:t> Network Attack Detection And Classification System," 2022  IEEE </a:t>
            </a:r>
            <a:r>
              <a:rPr lang="en-US" sz="1500" dirty="0" err="1">
                <a:latin typeface="Times New Roman"/>
                <a:cs typeface="Times New Roman"/>
              </a:rPr>
              <a:t>Latin-american</a:t>
            </a:r>
            <a:r>
              <a:rPr lang="en-US" sz="1500" dirty="0">
                <a:latin typeface="Times New Roman"/>
                <a:cs typeface="Times New Roman"/>
              </a:rPr>
              <a:t> Conference On Communications (LATINCOM), 2022,  Doi:10.1109/Latincom56090.2022.10000544.</a:t>
            </a:r>
          </a:p>
          <a:p>
            <a:pPr>
              <a:lnSpc>
                <a:spcPct val="150000"/>
              </a:lnSpc>
              <a:buFont typeface="Wingdings" panose="05000000000000000000" pitchFamily="2" charset="2"/>
              <a:buChar char="q"/>
            </a:pPr>
            <a:r>
              <a:rPr lang="en-US" sz="1500" b="1" dirty="0" err="1">
                <a:latin typeface="Times New Roman"/>
                <a:cs typeface="Times New Roman"/>
              </a:rPr>
              <a:t>Tianbo</a:t>
            </a:r>
            <a:r>
              <a:rPr lang="en-US" sz="1500" b="1" dirty="0">
                <a:latin typeface="Times New Roman"/>
                <a:cs typeface="Times New Roman"/>
              </a:rPr>
              <a:t> Gu; </a:t>
            </a:r>
            <a:r>
              <a:rPr lang="en-US" sz="1500" b="1" dirty="0" err="1">
                <a:latin typeface="Times New Roman"/>
                <a:cs typeface="Times New Roman"/>
              </a:rPr>
              <a:t>Allaukik</a:t>
            </a:r>
            <a:r>
              <a:rPr lang="en-US" sz="1500" b="1" dirty="0">
                <a:latin typeface="Times New Roman"/>
                <a:cs typeface="Times New Roman"/>
              </a:rPr>
              <a:t> Abhishek; Hao Fu; </a:t>
            </a:r>
            <a:r>
              <a:rPr lang="en-US" sz="1500" b="1" dirty="0" err="1">
                <a:latin typeface="Times New Roman"/>
                <a:cs typeface="Times New Roman"/>
              </a:rPr>
              <a:t>Huanle</a:t>
            </a:r>
            <a:r>
              <a:rPr lang="en-US" sz="1500" b="1" dirty="0">
                <a:latin typeface="Times New Roman"/>
                <a:cs typeface="Times New Roman"/>
              </a:rPr>
              <a:t> Zhang; </a:t>
            </a:r>
            <a:r>
              <a:rPr lang="en-US" sz="1500" b="1" dirty="0" err="1">
                <a:latin typeface="Times New Roman"/>
                <a:cs typeface="Times New Roman"/>
              </a:rPr>
              <a:t>Debraj</a:t>
            </a:r>
            <a:r>
              <a:rPr lang="en-US" sz="1500" b="1" dirty="0">
                <a:latin typeface="Times New Roman"/>
                <a:cs typeface="Times New Roman"/>
              </a:rPr>
              <a:t> Basu; Prasant Mohapatra</a:t>
            </a:r>
            <a:r>
              <a:rPr lang="en-US" sz="1500" dirty="0">
                <a:latin typeface="Times New Roman"/>
                <a:cs typeface="Times New Roman"/>
              </a:rPr>
              <a:t>, "Towards Learning-automation IOT Attack Detection Through Reinforcement Learning," 2020 IEEE 21st International Symposium On "A World Of Wireless, Mobile And Multimedia Networks" (WOWMOM) , 2020, Doi:10.1109/Wowmom49955.2020.00009.</a:t>
            </a:r>
          </a:p>
          <a:p>
            <a:pPr>
              <a:lnSpc>
                <a:spcPct val="150000"/>
              </a:lnSpc>
              <a:buFont typeface="Wingdings" panose="05000000000000000000" pitchFamily="2" charset="2"/>
              <a:buChar char="q"/>
            </a:pPr>
            <a:r>
              <a:rPr lang="en-US" sz="1500" b="1" dirty="0">
                <a:latin typeface="Times New Roman" panose="02020603050405020304" pitchFamily="18" charset="0"/>
                <a:cs typeface="Times New Roman" panose="02020603050405020304" pitchFamily="18" charset="0"/>
              </a:rPr>
              <a:t>Juan Luis López Delgado , And Juan Antonio López Ramos , </a:t>
            </a:r>
            <a:r>
              <a:rPr lang="en-US" sz="1500" dirty="0">
                <a:latin typeface="Times New Roman" panose="02020603050405020304" pitchFamily="18" charset="0"/>
                <a:cs typeface="Times New Roman" panose="02020603050405020304" pitchFamily="18" charset="0"/>
              </a:rPr>
              <a:t>"A Comprehensive Survey On Generative AI Solutions In </a:t>
            </a:r>
            <a:r>
              <a:rPr lang="en-US" sz="1500" dirty="0" err="1">
                <a:latin typeface="Times New Roman" panose="02020603050405020304" pitchFamily="18" charset="0"/>
                <a:cs typeface="Times New Roman" panose="02020603050405020304" pitchFamily="18" charset="0"/>
              </a:rPr>
              <a:t>Iot</a:t>
            </a:r>
            <a:r>
              <a:rPr lang="en-US" sz="1500" dirty="0">
                <a:latin typeface="Times New Roman" panose="02020603050405020304" pitchFamily="18" charset="0"/>
                <a:cs typeface="Times New Roman" panose="02020603050405020304" pitchFamily="18" charset="0"/>
              </a:rPr>
              <a:t> Security," Department Of Mathematics, University Of Almería, 04120 Almería, Spain, 2024, Doi:10.3390/Electronics13244965.</a:t>
            </a:r>
          </a:p>
          <a:p>
            <a:pPr>
              <a:lnSpc>
                <a:spcPct val="150000"/>
              </a:lnSpc>
              <a:buFont typeface="Wingdings" panose="05000000000000000000" pitchFamily="2" charset="2"/>
              <a:buChar char="q"/>
            </a:pPr>
            <a:r>
              <a:rPr lang="en-US" sz="1500" b="1" dirty="0">
                <a:latin typeface="Times New Roman"/>
                <a:cs typeface="Times New Roman"/>
              </a:rPr>
              <a:t>Olivia Jullian , Beatriz Otero , Eva Rodriguez , Norma Gutierrez ,Héctor </a:t>
            </a:r>
            <a:r>
              <a:rPr lang="en-US" sz="1500" b="1" dirty="0" err="1">
                <a:latin typeface="Times New Roman"/>
                <a:cs typeface="Times New Roman"/>
              </a:rPr>
              <a:t>Antona</a:t>
            </a:r>
            <a:r>
              <a:rPr lang="en-US" sz="1500" b="1" dirty="0">
                <a:latin typeface="Times New Roman"/>
                <a:cs typeface="Times New Roman"/>
              </a:rPr>
              <a:t> , Ramon Canal</a:t>
            </a:r>
            <a:r>
              <a:rPr lang="en-US" sz="1500" dirty="0">
                <a:latin typeface="Times New Roman"/>
                <a:cs typeface="Times New Roman"/>
              </a:rPr>
              <a:t>, "Deep‑learning Based Detection For Cyber‑attacks In </a:t>
            </a:r>
            <a:r>
              <a:rPr lang="en-US" sz="1500" dirty="0" err="1">
                <a:latin typeface="Times New Roman"/>
                <a:cs typeface="Times New Roman"/>
              </a:rPr>
              <a:t>Iot</a:t>
            </a:r>
            <a:r>
              <a:rPr lang="en-US" sz="1500" dirty="0">
                <a:latin typeface="Times New Roman"/>
                <a:cs typeface="Times New Roman"/>
              </a:rPr>
              <a:t> Networks: A Distributed Attack Detection Framework," </a:t>
            </a:r>
            <a:r>
              <a:rPr lang="en-IN" sz="1500" dirty="0"/>
              <a:t>Department Of Computer Architecture, </a:t>
            </a:r>
            <a:r>
              <a:rPr lang="en-IN" sz="1500" dirty="0" err="1"/>
              <a:t>Universitat</a:t>
            </a:r>
            <a:r>
              <a:rPr lang="en-IN" sz="1500" dirty="0"/>
              <a:t> </a:t>
            </a:r>
            <a:r>
              <a:rPr lang="en-IN" sz="1500" dirty="0" err="1"/>
              <a:t>Politecnica</a:t>
            </a:r>
            <a:r>
              <a:rPr lang="en-IN" sz="1500" dirty="0"/>
              <a:t> De Catalunya, Jordi Girona, 31, Barcelona 08034, Spain, </a:t>
            </a:r>
            <a:r>
              <a:rPr lang="en-US" sz="1500" dirty="0">
                <a:latin typeface="Times New Roman"/>
                <a:cs typeface="Times New Roman"/>
              </a:rPr>
              <a:t>Journal Of Network And Systems Management, 2023, Doi: 10.1007/S10922-023-09722-7.</a:t>
            </a:r>
          </a:p>
          <a:p>
            <a:pPr>
              <a:lnSpc>
                <a:spcPct val="150000"/>
              </a:lnSpc>
              <a:buFont typeface="Wingdings" panose="05000000000000000000" pitchFamily="2" charset="2"/>
              <a:buChar char="q"/>
            </a:pPr>
            <a:r>
              <a:rPr lang="en-US" sz="1500" b="1" dirty="0" err="1">
                <a:latin typeface="Times New Roman"/>
                <a:cs typeface="Times New Roman"/>
              </a:rPr>
              <a:t>Padmasri</a:t>
            </a:r>
            <a:r>
              <a:rPr lang="en-US" sz="1500" b="1" dirty="0">
                <a:latin typeface="Times New Roman"/>
                <a:cs typeface="Times New Roman"/>
              </a:rPr>
              <a:t> </a:t>
            </a:r>
            <a:r>
              <a:rPr lang="en-US" sz="1500" b="1" dirty="0" err="1">
                <a:latin typeface="Times New Roman"/>
                <a:cs typeface="Times New Roman"/>
              </a:rPr>
              <a:t>Turaka</a:t>
            </a:r>
            <a:r>
              <a:rPr lang="en-US" sz="1500" b="1" dirty="0">
                <a:latin typeface="Times New Roman"/>
                <a:cs typeface="Times New Roman"/>
              </a:rPr>
              <a:t> And Saroj Kumar </a:t>
            </a:r>
            <a:r>
              <a:rPr lang="en-US" sz="1500" b="1" dirty="0" err="1">
                <a:latin typeface="Times New Roman"/>
                <a:cs typeface="Times New Roman"/>
              </a:rPr>
              <a:t>Panigrahy</a:t>
            </a:r>
            <a:r>
              <a:rPr lang="en-US" sz="1500" dirty="0">
                <a:latin typeface="Times New Roman"/>
                <a:cs typeface="Times New Roman"/>
              </a:rPr>
              <a:t>, "Dynamic Attack Detection In </a:t>
            </a:r>
            <a:r>
              <a:rPr lang="en-US" sz="1500" dirty="0" err="1">
                <a:latin typeface="Times New Roman"/>
                <a:cs typeface="Times New Roman"/>
              </a:rPr>
              <a:t>Iot</a:t>
            </a:r>
            <a:r>
              <a:rPr lang="en-US" sz="1500" dirty="0">
                <a:latin typeface="Times New Roman"/>
                <a:cs typeface="Times New Roman"/>
              </a:rPr>
              <a:t> Networks: An Ensemble Learning Approach With Q-learning And Explainable AI,"IEEE Access,</a:t>
            </a:r>
            <a:r>
              <a:rPr lang="en-US" sz="1500" dirty="0"/>
              <a:t> School Of Computer Science And Engineering, VIT-AP University, Amaravati, Andhra Pradesh 522241, India,</a:t>
            </a:r>
            <a:r>
              <a:rPr lang="en-US" sz="1500" dirty="0">
                <a:latin typeface="Times New Roman"/>
                <a:cs typeface="Times New Roman"/>
              </a:rPr>
              <a:t> 2024, Doi: 10.1109/Access.2024.3485989.</a:t>
            </a:r>
          </a:p>
        </p:txBody>
      </p:sp>
    </p:spTree>
    <p:extLst>
      <p:ext uri="{BB962C8B-B14F-4D97-AF65-F5344CB8AC3E}">
        <p14:creationId xmlns:p14="http://schemas.microsoft.com/office/powerpoint/2010/main" val="5527280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1397E-8D6B-B7E2-5170-6D5453763023}"/>
              </a:ext>
            </a:extLst>
          </p:cNvPr>
          <p:cNvSpPr>
            <a:spLocks noGrp="1"/>
          </p:cNvSpPr>
          <p:nvPr>
            <p:ph type="title"/>
          </p:nvPr>
        </p:nvSpPr>
        <p:spPr>
          <a:xfrm>
            <a:off x="838200" y="96940"/>
            <a:ext cx="10515600" cy="1325563"/>
          </a:xfrm>
        </p:spPr>
        <p:txBody>
          <a:bodyPr>
            <a:normAutofit/>
          </a:bodyPr>
          <a:lstStyle/>
          <a:p>
            <a:r>
              <a:rPr lang="en-US" sz="4000"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C96F6460-FADE-271B-3F6B-2F0085C80FB5}"/>
              </a:ext>
            </a:extLst>
          </p:cNvPr>
          <p:cNvSpPr>
            <a:spLocks noGrp="1"/>
          </p:cNvSpPr>
          <p:nvPr>
            <p:ph idx="1"/>
          </p:nvPr>
        </p:nvSpPr>
        <p:spPr>
          <a:xfrm>
            <a:off x="838200" y="1147200"/>
            <a:ext cx="10515600" cy="4351338"/>
          </a:xfrm>
        </p:spPr>
        <p:txBody>
          <a:bodyPr vert="horz" lIns="91440" tIns="45720" rIns="91440" bIns="45720" rtlCol="0" anchor="t">
            <a:noAutofit/>
          </a:bodyPr>
          <a:lstStyle/>
          <a:p>
            <a:pPr>
              <a:lnSpc>
                <a:spcPct val="150000"/>
              </a:lnSpc>
              <a:buFont typeface="Wingdings" panose="020B0604020202020204" pitchFamily="34" charset="0"/>
              <a:buChar char="q"/>
            </a:pPr>
            <a:r>
              <a:rPr lang="en-IN" sz="1500" b="1" dirty="0">
                <a:latin typeface="Times New Roman" panose="02020603050405020304" pitchFamily="18" charset="0"/>
                <a:cs typeface="Times New Roman" panose="02020603050405020304" pitchFamily="18" charset="0"/>
              </a:rPr>
              <a:t>Kavitha </a:t>
            </a:r>
            <a:r>
              <a:rPr lang="en-IN" sz="1500" b="1" dirty="0" err="1">
                <a:latin typeface="Times New Roman" panose="02020603050405020304" pitchFamily="18" charset="0"/>
                <a:cs typeface="Times New Roman" panose="02020603050405020304" pitchFamily="18" charset="0"/>
              </a:rPr>
              <a:t>Dhanushkodi</a:t>
            </a:r>
            <a:r>
              <a:rPr lang="en-IN" sz="1500" b="1" dirty="0">
                <a:latin typeface="Times New Roman" panose="02020603050405020304" pitchFamily="18" charset="0"/>
                <a:cs typeface="Times New Roman" panose="02020603050405020304" pitchFamily="18" charset="0"/>
              </a:rPr>
              <a:t> </a:t>
            </a:r>
            <a:r>
              <a:rPr lang="en-IN" sz="1500" b="1" dirty="0" err="1">
                <a:latin typeface="Times New Roman" panose="02020603050405020304" pitchFamily="18" charset="0"/>
                <a:cs typeface="Times New Roman" panose="02020603050405020304" pitchFamily="18" charset="0"/>
              </a:rPr>
              <a:t>Ands.THEJAS</a:t>
            </a:r>
            <a:r>
              <a:rPr lang="en-IN" sz="1500" b="1" dirty="0">
                <a:latin typeface="Times New Roman" panose="02020603050405020304" pitchFamily="18" charset="0"/>
                <a:cs typeface="Times New Roman" panose="02020603050405020304" pitchFamily="18" charset="0"/>
              </a:rPr>
              <a:t> </a:t>
            </a:r>
            <a:r>
              <a:rPr lang="en-IN" sz="1500" dirty="0">
                <a:latin typeface="Times New Roman" panose="02020603050405020304" pitchFamily="18" charset="0"/>
                <a:cs typeface="Times New Roman" panose="02020603050405020304" pitchFamily="18" charset="0"/>
              </a:rPr>
              <a:t>, "AI Enabled Threat Detection: Leveraging Artificial Intelligence For Advanced Security And Cyber Threat Mitigation," IEEE Access, 2024, Doi: 10.1109/Access.2024.3493957.</a:t>
            </a:r>
          </a:p>
          <a:p>
            <a:pPr>
              <a:lnSpc>
                <a:spcPct val="150000"/>
              </a:lnSpc>
              <a:buFont typeface="Wingdings" panose="020B0604020202020204" pitchFamily="34" charset="0"/>
              <a:buChar char="q"/>
            </a:pPr>
            <a:r>
              <a:rPr lang="en-IN" sz="1500" b="1" dirty="0">
                <a:latin typeface="Times New Roman" panose="02020603050405020304" pitchFamily="18" charset="0"/>
                <a:cs typeface="Times New Roman" panose="02020603050405020304" pitchFamily="18" charset="0"/>
              </a:rPr>
              <a:t>Meng Wang , </a:t>
            </a:r>
            <a:r>
              <a:rPr lang="en-IN" sz="1500" b="1" dirty="0" err="1">
                <a:latin typeface="Times New Roman" panose="02020603050405020304" pitchFamily="18" charset="0"/>
                <a:cs typeface="Times New Roman" panose="02020603050405020304" pitchFamily="18" charset="0"/>
              </a:rPr>
              <a:t>Yiqin</a:t>
            </a:r>
            <a:r>
              <a:rPr lang="en-IN" sz="1500" b="1" dirty="0">
                <a:latin typeface="Times New Roman" panose="02020603050405020304" pitchFamily="18" charset="0"/>
                <a:cs typeface="Times New Roman" panose="02020603050405020304" pitchFamily="18" charset="0"/>
              </a:rPr>
              <a:t> Lu , </a:t>
            </a:r>
            <a:r>
              <a:rPr lang="en-IN" sz="1500" b="1" dirty="0" err="1">
                <a:latin typeface="Times New Roman" panose="02020603050405020304" pitchFamily="18" charset="0"/>
                <a:cs typeface="Times New Roman" panose="02020603050405020304" pitchFamily="18" charset="0"/>
              </a:rPr>
              <a:t>Jiancheng</a:t>
            </a:r>
            <a:r>
              <a:rPr lang="en-IN" sz="1500" b="1" dirty="0">
                <a:latin typeface="Times New Roman" panose="02020603050405020304" pitchFamily="18" charset="0"/>
                <a:cs typeface="Times New Roman" panose="02020603050405020304" pitchFamily="18" charset="0"/>
              </a:rPr>
              <a:t> Qin, </a:t>
            </a:r>
            <a:r>
              <a:rPr lang="en-IN" sz="1500" dirty="0">
                <a:latin typeface="Times New Roman" panose="02020603050405020304" pitchFamily="18" charset="0"/>
                <a:cs typeface="Times New Roman" panose="02020603050405020304" pitchFamily="18" charset="0"/>
              </a:rPr>
              <a:t>"A Dynamic </a:t>
            </a:r>
            <a:r>
              <a:rPr lang="en-IN" sz="1500" dirty="0" err="1">
                <a:latin typeface="Times New Roman" panose="02020603050405020304" pitchFamily="18" charset="0"/>
                <a:cs typeface="Times New Roman" panose="02020603050405020304" pitchFamily="18" charset="0"/>
              </a:rPr>
              <a:t>Mlp</a:t>
            </a:r>
            <a:r>
              <a:rPr lang="en-IN" sz="1500" dirty="0">
                <a:latin typeface="Times New Roman" panose="02020603050405020304" pitchFamily="18" charset="0"/>
                <a:cs typeface="Times New Roman" panose="02020603050405020304" pitchFamily="18" charset="0"/>
              </a:rPr>
              <a:t>-based </a:t>
            </a:r>
            <a:r>
              <a:rPr lang="en-IN" sz="1500" dirty="0" err="1">
                <a:latin typeface="Times New Roman" panose="02020603050405020304" pitchFamily="18" charset="0"/>
                <a:cs typeface="Times New Roman" panose="02020603050405020304" pitchFamily="18" charset="0"/>
              </a:rPr>
              <a:t>Ddos</a:t>
            </a:r>
            <a:r>
              <a:rPr lang="en-IN" sz="1500" dirty="0">
                <a:latin typeface="Times New Roman" panose="02020603050405020304" pitchFamily="18" charset="0"/>
                <a:cs typeface="Times New Roman" panose="02020603050405020304" pitchFamily="18" charset="0"/>
              </a:rPr>
              <a:t> Attack Detection Method Using Feature Selection And Feedback ," Science direct, School Of Electronic And Information Engineering, South China University Of Technology, Guangzhou 510641, China,2019.</a:t>
            </a:r>
          </a:p>
          <a:p>
            <a:pPr>
              <a:lnSpc>
                <a:spcPct val="150000"/>
              </a:lnSpc>
              <a:buFont typeface="Wingdings" panose="020B0604020202020204" pitchFamily="34" charset="0"/>
              <a:buChar char="q"/>
            </a:pPr>
            <a:r>
              <a:rPr lang="en-IN" sz="1500" b="1" dirty="0">
                <a:latin typeface="Times New Roman" panose="02020603050405020304" pitchFamily="18" charset="0"/>
                <a:cs typeface="Times New Roman" panose="02020603050405020304" pitchFamily="18" charset="0"/>
              </a:rPr>
              <a:t>Sarah Bin </a:t>
            </a:r>
            <a:r>
              <a:rPr lang="en-IN" sz="1500" b="1" dirty="0" err="1">
                <a:latin typeface="Times New Roman" panose="02020603050405020304" pitchFamily="18" charset="0"/>
                <a:cs typeface="Times New Roman" panose="02020603050405020304" pitchFamily="18" charset="0"/>
              </a:rPr>
              <a:t>Hulayyil</a:t>
            </a:r>
            <a:r>
              <a:rPr lang="en-IN" sz="1500" b="1" dirty="0">
                <a:latin typeface="Times New Roman" panose="02020603050405020304" pitchFamily="18" charset="0"/>
                <a:cs typeface="Times New Roman" panose="02020603050405020304" pitchFamily="18" charset="0"/>
              </a:rPr>
              <a:t> , </a:t>
            </a:r>
            <a:r>
              <a:rPr lang="en-IN" sz="1500" b="1" dirty="0" err="1">
                <a:latin typeface="Times New Roman" panose="02020603050405020304" pitchFamily="18" charset="0"/>
                <a:cs typeface="Times New Roman" panose="02020603050405020304" pitchFamily="18" charset="0"/>
              </a:rPr>
              <a:t>Shancang</a:t>
            </a:r>
            <a:r>
              <a:rPr lang="en-IN" sz="1500" b="1" dirty="0">
                <a:latin typeface="Times New Roman" panose="02020603050405020304" pitchFamily="18" charset="0"/>
                <a:cs typeface="Times New Roman" panose="02020603050405020304" pitchFamily="18" charset="0"/>
              </a:rPr>
              <a:t> Li , And Lida Xu </a:t>
            </a:r>
            <a:r>
              <a:rPr lang="en-IN" sz="1500" dirty="0">
                <a:latin typeface="Times New Roman" panose="02020603050405020304" pitchFamily="18" charset="0"/>
                <a:cs typeface="Times New Roman" panose="02020603050405020304" pitchFamily="18" charset="0"/>
              </a:rPr>
              <a:t>, "Machine-learning-based Vulnerability Detection And Classification In Internet Of Things Device Security," Electronics </a:t>
            </a:r>
            <a:r>
              <a:rPr lang="en-IN" sz="1500" dirty="0" err="1">
                <a:latin typeface="Times New Roman" panose="02020603050405020304" pitchFamily="18" charset="0"/>
                <a:cs typeface="Times New Roman" panose="02020603050405020304" pitchFamily="18" charset="0"/>
              </a:rPr>
              <a:t>Mdpi</a:t>
            </a:r>
            <a:r>
              <a:rPr lang="en-IN" sz="1500" dirty="0">
                <a:latin typeface="Times New Roman" panose="02020603050405020304" pitchFamily="18" charset="0"/>
                <a:cs typeface="Times New Roman" panose="02020603050405020304" pitchFamily="18" charset="0"/>
              </a:rPr>
              <a:t>, 2023, Doi:10.3390/Electronics12183927.</a:t>
            </a:r>
          </a:p>
          <a:p>
            <a:pPr>
              <a:lnSpc>
                <a:spcPct val="150000"/>
              </a:lnSpc>
              <a:buFont typeface="Wingdings" panose="020B0604020202020204" pitchFamily="34" charset="0"/>
              <a:buChar char="q"/>
            </a:pPr>
            <a:r>
              <a:rPr lang="en-IN" sz="1500" b="1" dirty="0">
                <a:latin typeface="Times New Roman" panose="02020603050405020304" pitchFamily="18" charset="0"/>
                <a:cs typeface="Times New Roman" panose="02020603050405020304" pitchFamily="18" charset="0"/>
              </a:rPr>
              <a:t>Amin Ullah ,Amjad Rehman, Syed </a:t>
            </a:r>
            <a:r>
              <a:rPr lang="en-IN" sz="1500" b="1" dirty="0" err="1">
                <a:latin typeface="Times New Roman" panose="02020603050405020304" pitchFamily="18" charset="0"/>
                <a:cs typeface="Times New Roman" panose="02020603050405020304" pitchFamily="18" charset="0"/>
              </a:rPr>
              <a:t>Myhammad</a:t>
            </a:r>
            <a:r>
              <a:rPr lang="en-IN" sz="1500" b="1" dirty="0">
                <a:latin typeface="Times New Roman" panose="02020603050405020304" pitchFamily="18" charset="0"/>
                <a:cs typeface="Times New Roman" panose="02020603050405020304" pitchFamily="18" charset="0"/>
              </a:rPr>
              <a:t> Anwar ,</a:t>
            </a:r>
            <a:r>
              <a:rPr lang="en-IN" sz="1500" b="1" dirty="0" err="1">
                <a:latin typeface="Times New Roman" panose="02020603050405020304" pitchFamily="18" charset="0"/>
                <a:cs typeface="Times New Roman" panose="02020603050405020304" pitchFamily="18" charset="0"/>
              </a:rPr>
              <a:t>Jianqiang</a:t>
            </a:r>
            <a:r>
              <a:rPr lang="en-IN" sz="1500" b="1" dirty="0">
                <a:latin typeface="Times New Roman" panose="02020603050405020304" pitchFamily="18" charset="0"/>
                <a:cs typeface="Times New Roman" panose="02020603050405020304" pitchFamily="18" charset="0"/>
              </a:rPr>
              <a:t> Li ,</a:t>
            </a:r>
            <a:r>
              <a:rPr lang="en-IN" sz="1500" b="1" dirty="0" err="1">
                <a:latin typeface="Times New Roman" panose="02020603050405020304" pitchFamily="18" charset="0"/>
                <a:cs typeface="Times New Roman" panose="02020603050405020304" pitchFamily="18" charset="0"/>
              </a:rPr>
              <a:t>Tanzila</a:t>
            </a:r>
            <a:r>
              <a:rPr lang="en-IN" sz="1500" b="1" dirty="0">
                <a:latin typeface="Times New Roman" panose="02020603050405020304" pitchFamily="18" charset="0"/>
                <a:cs typeface="Times New Roman" panose="02020603050405020304" pitchFamily="18" charset="0"/>
              </a:rPr>
              <a:t> Saba , Lubna Nadeem ,Tariq Mahmood</a:t>
            </a:r>
            <a:r>
              <a:rPr lang="en-IN" sz="1500" dirty="0">
                <a:latin typeface="Times New Roman" panose="02020603050405020304" pitchFamily="18" charset="0"/>
                <a:cs typeface="Times New Roman" panose="02020603050405020304" pitchFamily="18" charset="0"/>
              </a:rPr>
              <a:t>, "</a:t>
            </a:r>
            <a:r>
              <a:rPr lang="en-IN" sz="1500" dirty="0" err="1">
                <a:latin typeface="Times New Roman" panose="02020603050405020304" pitchFamily="18" charset="0"/>
                <a:cs typeface="Times New Roman" panose="02020603050405020304" pitchFamily="18" charset="0"/>
              </a:rPr>
              <a:t>Smartcities</a:t>
            </a:r>
            <a:r>
              <a:rPr lang="en-IN" sz="1500" dirty="0">
                <a:latin typeface="Times New Roman" panose="02020603050405020304" pitchFamily="18" charset="0"/>
                <a:cs typeface="Times New Roman" panose="02020603050405020304" pitchFamily="18" charset="0"/>
              </a:rPr>
              <a:t>: The Role Of Internet Of Things And Machine Learning In Realizing A Data-centric Smart Environment," Complex &amp; Intelligent Systems, 2023, Doi: 10.1007/S40747-023-01175-4.</a:t>
            </a:r>
          </a:p>
          <a:p>
            <a:pPr>
              <a:lnSpc>
                <a:spcPct val="150000"/>
              </a:lnSpc>
              <a:buFont typeface="Wingdings" panose="020B0604020202020204" pitchFamily="34" charset="0"/>
              <a:buChar char="q"/>
            </a:pPr>
            <a:r>
              <a:rPr lang="en-IN" sz="1500" b="1" dirty="0">
                <a:latin typeface="Times New Roman" panose="02020603050405020304" pitchFamily="18" charset="0"/>
                <a:cs typeface="Times New Roman" panose="02020603050405020304" pitchFamily="18" charset="0"/>
              </a:rPr>
              <a:t>Yara </a:t>
            </a:r>
            <a:r>
              <a:rPr lang="en-IN" sz="1500" b="1" dirty="0" err="1">
                <a:latin typeface="Times New Roman" panose="02020603050405020304" pitchFamily="18" charset="0"/>
                <a:cs typeface="Times New Roman" panose="02020603050405020304" pitchFamily="18" charset="0"/>
              </a:rPr>
              <a:t>Alghofaili</a:t>
            </a:r>
            <a:r>
              <a:rPr lang="en-IN" sz="1500" b="1" dirty="0">
                <a:latin typeface="Times New Roman" panose="02020603050405020304" pitchFamily="18" charset="0"/>
                <a:cs typeface="Times New Roman" panose="02020603050405020304" pitchFamily="18" charset="0"/>
              </a:rPr>
              <a:t> And Murad A. </a:t>
            </a:r>
            <a:r>
              <a:rPr lang="en-IN" sz="1500" b="1" dirty="0" err="1">
                <a:latin typeface="Times New Roman" panose="02020603050405020304" pitchFamily="18" charset="0"/>
                <a:cs typeface="Times New Roman" panose="02020603050405020304" pitchFamily="18" charset="0"/>
              </a:rPr>
              <a:t>Rassam</a:t>
            </a:r>
            <a:r>
              <a:rPr lang="en-IN" sz="1500" b="1" dirty="0">
                <a:latin typeface="Times New Roman" panose="02020603050405020304" pitchFamily="18" charset="0"/>
                <a:cs typeface="Times New Roman" panose="02020603050405020304" pitchFamily="18" charset="0"/>
              </a:rPr>
              <a:t> </a:t>
            </a:r>
            <a:r>
              <a:rPr lang="en-IN" sz="1500" dirty="0">
                <a:latin typeface="Times New Roman" panose="02020603050405020304" pitchFamily="18" charset="0"/>
                <a:cs typeface="Times New Roman" panose="02020603050405020304" pitchFamily="18" charset="0"/>
              </a:rPr>
              <a:t>,"A Dynamic Trust-related Attack Detection Model For </a:t>
            </a:r>
            <a:r>
              <a:rPr lang="en-IN" sz="1500" dirty="0" err="1">
                <a:latin typeface="Times New Roman" panose="02020603050405020304" pitchFamily="18" charset="0"/>
                <a:cs typeface="Times New Roman" panose="02020603050405020304" pitchFamily="18" charset="0"/>
              </a:rPr>
              <a:t>Iot</a:t>
            </a:r>
            <a:r>
              <a:rPr lang="en-IN" sz="1500" dirty="0">
                <a:latin typeface="Times New Roman" panose="02020603050405020304" pitchFamily="18" charset="0"/>
                <a:cs typeface="Times New Roman" panose="02020603050405020304" pitchFamily="18" charset="0"/>
              </a:rPr>
              <a:t> Devices And Services Based On The Deep Long Short-term Memory Technique," SENSOR MDPI, 2023, Doi: 10.3390/S23083814.</a:t>
            </a:r>
          </a:p>
          <a:p>
            <a:pPr>
              <a:lnSpc>
                <a:spcPct val="150000"/>
              </a:lnSpc>
              <a:buFont typeface="Wingdings" panose="020B0604020202020204" pitchFamily="34" charset="0"/>
              <a:buChar char="q"/>
            </a:pPr>
            <a:r>
              <a:rPr lang="en-IN" sz="1500" b="1" dirty="0">
                <a:latin typeface="Times New Roman" panose="02020603050405020304" pitchFamily="18" charset="0"/>
                <a:cs typeface="Times New Roman" panose="02020603050405020304" pitchFamily="18" charset="0"/>
              </a:rPr>
              <a:t>Nouf Saeed Alotaibi, Hassan Ibrahim Ahmed And Samah Osama M. Kamel </a:t>
            </a:r>
            <a:r>
              <a:rPr lang="en-IN" sz="1500" dirty="0">
                <a:latin typeface="Times New Roman" panose="02020603050405020304" pitchFamily="18" charset="0"/>
                <a:cs typeface="Times New Roman" panose="02020603050405020304" pitchFamily="18" charset="0"/>
              </a:rPr>
              <a:t>,"Dynamic Adaptation Attack Detection Model For A Distributed Multi-access Edge Computing Smart City," SENSOR MDPI, 2023, Doi: 10.3390/S23167135.</a:t>
            </a:r>
          </a:p>
        </p:txBody>
      </p:sp>
    </p:spTree>
    <p:extLst>
      <p:ext uri="{BB962C8B-B14F-4D97-AF65-F5344CB8AC3E}">
        <p14:creationId xmlns:p14="http://schemas.microsoft.com/office/powerpoint/2010/main" val="12115480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03175" y="3687097"/>
            <a:ext cx="4640825" cy="580104"/>
          </a:xfrm>
        </p:spPr>
        <p:txBody>
          <a:bodyPr>
            <a:noAutofit/>
          </a:bodyPr>
          <a:lstStyle/>
          <a:p>
            <a:pPr marL="0" indent="0">
              <a:buNone/>
            </a:pPr>
            <a:endParaRPr lang="en-US" sz="5400" dirty="0"/>
          </a:p>
          <a:p>
            <a:pPr marL="0" indent="0">
              <a:buNone/>
            </a:pPr>
            <a:endParaRPr lang="en-US" sz="5400" dirty="0"/>
          </a:p>
          <a:p>
            <a:pPr marL="0" indent="0">
              <a:buNone/>
            </a:pPr>
            <a:endParaRPr lang="en-US" sz="5400" dirty="0"/>
          </a:p>
          <a:p>
            <a:pPr marL="0" indent="0" algn="just">
              <a:buNone/>
            </a:pPr>
            <a:r>
              <a:rPr lang="en-US" sz="5400" dirty="0">
                <a:latin typeface="Times New Roman" panose="02020603050405020304" pitchFamily="18" charset="0"/>
                <a:cs typeface="Times New Roman" panose="02020603050405020304" pitchFamily="18" charset="0"/>
              </a:rPr>
              <a:t>                             THANK YOU!</a:t>
            </a:r>
            <a:endParaRPr lang="en-IN" sz="54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DA2CE3A0-BE33-F40F-4424-6A7E72B5ADDD}"/>
              </a:ext>
            </a:extLst>
          </p:cNvPr>
          <p:cNvSpPr txBox="1"/>
          <p:nvPr/>
        </p:nvSpPr>
        <p:spPr>
          <a:xfrm>
            <a:off x="3270226" y="2579101"/>
            <a:ext cx="5651547" cy="1107996"/>
          </a:xfrm>
          <a:prstGeom prst="rect">
            <a:avLst/>
          </a:prstGeom>
          <a:noFill/>
        </p:spPr>
        <p:txBody>
          <a:bodyPr wrap="none" rtlCol="0">
            <a:spAutoFit/>
          </a:bodyPr>
          <a:lstStyle/>
          <a:p>
            <a:r>
              <a:rPr lang="en-IN" sz="6600" dirty="0">
                <a:latin typeface="Times New Roman" panose="02020603050405020304" pitchFamily="18" charset="0"/>
                <a:cs typeface="Times New Roman" panose="02020603050405020304" pitchFamily="18" charset="0"/>
              </a:rPr>
              <a:t>THANK YOU !</a:t>
            </a:r>
          </a:p>
        </p:txBody>
      </p:sp>
    </p:spTree>
    <p:extLst>
      <p:ext uri="{BB962C8B-B14F-4D97-AF65-F5344CB8AC3E}">
        <p14:creationId xmlns:p14="http://schemas.microsoft.com/office/powerpoint/2010/main" val="20641072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732</TotalTime>
  <Words>2271</Words>
  <Application>Microsoft Office PowerPoint</Application>
  <PresentationFormat>Widescreen</PresentationFormat>
  <Paragraphs>172</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Arial</vt:lpstr>
      <vt:lpstr>Calibri</vt:lpstr>
      <vt:lpstr>Calibri Light</vt:lpstr>
      <vt:lpstr>Times</vt:lpstr>
      <vt:lpstr>Times New Roman</vt:lpstr>
      <vt:lpstr>Wingdings</vt:lpstr>
      <vt:lpstr>Office Theme</vt:lpstr>
      <vt:lpstr>AI-Driven Dynamic Testing for IoT Device Security: Detection of Network Attacks</vt:lpstr>
      <vt:lpstr>OUTLINE</vt:lpstr>
      <vt:lpstr>INTRODUCTION</vt:lpstr>
      <vt:lpstr>MOTIVATION</vt:lpstr>
      <vt:lpstr> OBJECTIVE</vt:lpstr>
      <vt:lpstr> PREVIOUS WORK</vt:lpstr>
      <vt:lpstr>LITERATURE SURVEY</vt:lpstr>
      <vt:lpstr>PowerPoint Presentation</vt:lpstr>
      <vt:lpstr>PowerPoint Presentation</vt:lpstr>
      <vt:lpstr>PowerPoint Presentation</vt:lpstr>
      <vt:lpstr>BLOCK DIAGRAM OF NETWORK VULNERABILITY ANALYSIS USING PACKET SNIFFING TOOL</vt:lpstr>
      <vt:lpstr>WORK PLAN</vt:lpstr>
      <vt:lpstr>REFERENCES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Network Slicing in 5G Networks</dc:title>
  <dc:creator>Abinaya K</dc:creator>
  <cp:lastModifiedBy>RESHMI MJ3</cp:lastModifiedBy>
  <cp:revision>35</cp:revision>
  <dcterms:created xsi:type="dcterms:W3CDTF">2024-08-20T11:35:24Z</dcterms:created>
  <dcterms:modified xsi:type="dcterms:W3CDTF">2025-01-23T17:07:51Z</dcterms:modified>
</cp:coreProperties>
</file>